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68" r:id="rId4"/>
    <p:sldId id="269" r:id="rId5"/>
    <p:sldId id="267" r:id="rId6"/>
    <p:sldId id="259" r:id="rId7"/>
    <p:sldId id="270" r:id="rId8"/>
    <p:sldId id="261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  <a:pPr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 smtClean="0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ru-RU" smtClean="0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  <a:t>12/17/2025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8" r:id="rId9"/>
    <p:sldLayoutId id="2147483667" r:id="rId10"/>
    <p:sldLayoutId id="2147483661" r:id="rId11"/>
    <p:sldLayoutId id="2147483672" r:id="rId12"/>
    <p:sldLayoutId id="2147483662" r:id="rId13"/>
    <p:sldLayoutId id="2147483669" r:id="rId14"/>
    <p:sldLayoutId id="2147483670" r:id="rId15"/>
    <p:sldLayoutId id="2147483658" r:id="rId16"/>
    <p:sldLayoutId id="2147483659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 smtClean="0"/>
              <a:t>Исследование спроса на самокаты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154955" y="4777379"/>
            <a:ext cx="9069700" cy="1401747"/>
          </a:xfrm>
        </p:spPr>
        <p:txBody>
          <a:bodyPr>
            <a:normAutofit fontScale="92500" lnSpcReduction="20000"/>
          </a:bodyPr>
          <a:lstStyle/>
          <a:p>
            <a:r>
              <a:rPr lang="ru-RU" dirty="0" smtClean="0"/>
              <a:t>Работу </a:t>
            </a:r>
            <a:r>
              <a:rPr lang="ru-RU" dirty="0" smtClean="0"/>
              <a:t>выполняли</a:t>
            </a:r>
            <a:r>
              <a:rPr lang="en-US" dirty="0" smtClean="0"/>
              <a:t>:</a:t>
            </a:r>
          </a:p>
          <a:p>
            <a:r>
              <a:rPr lang="ru-RU" dirty="0" smtClean="0"/>
              <a:t>Петров </a:t>
            </a:r>
            <a:r>
              <a:rPr lang="ru-RU" dirty="0" smtClean="0"/>
              <a:t>Павел, </a:t>
            </a:r>
            <a:endParaRPr lang="en-US" dirty="0" smtClean="0"/>
          </a:p>
          <a:p>
            <a:r>
              <a:rPr lang="ru-RU" dirty="0" err="1" smtClean="0"/>
              <a:t>Чикризов</a:t>
            </a:r>
            <a:r>
              <a:rPr lang="ru-RU" dirty="0" smtClean="0"/>
              <a:t> Константин</a:t>
            </a:r>
            <a:endParaRPr lang="en-US" dirty="0" smtClean="0"/>
          </a:p>
          <a:p>
            <a:r>
              <a:rPr lang="ru-RU" dirty="0" smtClean="0"/>
              <a:t>Обухов </a:t>
            </a:r>
            <a:r>
              <a:rPr lang="ru-RU" dirty="0" smtClean="0"/>
              <a:t>Адам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175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85500" y="701962"/>
            <a:ext cx="8825660" cy="831145"/>
          </a:xfrm>
        </p:spPr>
        <p:txBody>
          <a:bodyPr/>
          <a:lstStyle/>
          <a:p>
            <a:r>
              <a:rPr lang="ru-RU" dirty="0" smtClean="0"/>
              <a:t>Постановка задачи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77863" y="1958493"/>
            <a:ext cx="10593701" cy="461434"/>
          </a:xfrm>
        </p:spPr>
        <p:txBody>
          <a:bodyPr>
            <a:noAutofit/>
          </a:bodyPr>
          <a:lstStyle/>
          <a:p>
            <a:r>
              <a:rPr lang="ru-RU" sz="1800" dirty="0" smtClean="0"/>
              <a:t>Проанализировать деятельность компании, которая предоставляет аренду самокатов</a:t>
            </a:r>
            <a:endParaRPr lang="ru-RU" sz="1800" dirty="0"/>
          </a:p>
        </p:txBody>
      </p:sp>
      <p:sp>
        <p:nvSpPr>
          <p:cNvPr id="4" name="Текст 2"/>
          <p:cNvSpPr txBox="1">
            <a:spLocks/>
          </p:cNvSpPr>
          <p:nvPr/>
        </p:nvSpPr>
        <p:spPr>
          <a:xfrm>
            <a:off x="877862" y="2845313"/>
            <a:ext cx="10593701" cy="3786395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0" i="0" kern="1200" cap="none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8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6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1400" b="0" i="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sz="1800" dirty="0" smtClean="0"/>
              <a:t>Что у нас есть</a:t>
            </a:r>
            <a:r>
              <a:rPr lang="en-US" sz="1800" dirty="0" smtClean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97354 поездок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/>
              <a:t>3</a:t>
            </a:r>
            <a:r>
              <a:rPr lang="ru-RU" dirty="0"/>
              <a:t> </a:t>
            </a:r>
            <a:r>
              <a:rPr lang="ru-RU" dirty="0" smtClean="0"/>
              <a:t>месяца учёта поездок с 22 апреля по 31 июля 2023 года </a:t>
            </a:r>
          </a:p>
          <a:p>
            <a:endParaRPr lang="ru-RU" dirty="0" smtClean="0"/>
          </a:p>
          <a:p>
            <a:endParaRPr lang="ru-RU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5 месяцев учёта погоды с 1 апреля по 31 августа 2023 года</a:t>
            </a:r>
            <a:endParaRPr lang="en-US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Поездки совершались из </a:t>
            </a:r>
            <a:r>
              <a:rPr lang="en-US" dirty="0" smtClean="0"/>
              <a:t>6</a:t>
            </a:r>
            <a:r>
              <a:rPr lang="ru-RU" dirty="0" smtClean="0"/>
              <a:t> различных районов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 smtClean="0"/>
              <a:t>И много-много другой интересной информации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800" dirty="0"/>
          </a:p>
        </p:txBody>
      </p:sp>
    </p:spTree>
    <p:extLst>
      <p:ext uri="{BB962C8B-B14F-4D97-AF65-F5344CB8AC3E}">
        <p14:creationId xmlns:p14="http://schemas.microsoft.com/office/powerpoint/2010/main" val="218167059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Анализ трафика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7264" y="2646345"/>
            <a:ext cx="10961392" cy="391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6020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Анализ трафика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1025645" y="3223491"/>
            <a:ext cx="4663955" cy="25648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28600" lvl="0" indent="-228600">
              <a:spcBef>
                <a:spcPts val="1000"/>
              </a:spcBef>
              <a:buClr>
                <a:srgbClr val="B31166"/>
              </a:buClr>
              <a:buSzPct val="80000"/>
              <a:buFont typeface="+mj-lt"/>
              <a:buAutoNum type="arabicPeriod"/>
            </a:pPr>
            <a:r>
              <a:rPr lang="ru-RU" sz="1600" dirty="0">
                <a:solidFill>
                  <a:srgbClr val="B31166">
                    <a:lumMod val="60000"/>
                    <a:lumOff val="40000"/>
                  </a:srgbClr>
                </a:solidFill>
              </a:rPr>
              <a:t>Точка "Спортивная" является популярной конечной точкой.</a:t>
            </a:r>
          </a:p>
          <a:p>
            <a:pPr marL="228600" lvl="0" indent="-228600">
              <a:spcBef>
                <a:spcPts val="1000"/>
              </a:spcBef>
              <a:buClr>
                <a:srgbClr val="B31166"/>
              </a:buClr>
              <a:buSzPct val="80000"/>
              <a:buFont typeface="+mj-lt"/>
              <a:buAutoNum type="arabicPeriod"/>
            </a:pPr>
            <a:r>
              <a:rPr lang="ru-RU" sz="1600" dirty="0">
                <a:solidFill>
                  <a:srgbClr val="B31166">
                    <a:lumMod val="60000"/>
                    <a:lumOff val="40000"/>
                  </a:srgbClr>
                </a:solidFill>
              </a:rPr>
              <a:t>"майская -&gt; спортивная" и "спортивная -&gt; майская" являются взаимообратными и популярными, что говорит о каких то важных объектах в области близкой к этим </a:t>
            </a:r>
            <a:r>
              <a:rPr lang="ru-RU" sz="1600" dirty="0" smtClean="0">
                <a:solidFill>
                  <a:srgbClr val="B31166">
                    <a:lumMod val="60000"/>
                    <a:lumOff val="40000"/>
                  </a:srgbClr>
                </a:solidFill>
              </a:rPr>
              <a:t>точкам</a:t>
            </a:r>
          </a:p>
          <a:p>
            <a:pPr marL="228600" lvl="0" indent="-228600">
              <a:spcBef>
                <a:spcPts val="1000"/>
              </a:spcBef>
              <a:buClr>
                <a:srgbClr val="B31166"/>
              </a:buClr>
              <a:buSzPct val="80000"/>
              <a:buFont typeface="+mj-lt"/>
              <a:buAutoNum type="arabicPeriod"/>
            </a:pPr>
            <a:r>
              <a:rPr lang="ru-RU" sz="1600" dirty="0" smtClean="0">
                <a:solidFill>
                  <a:srgbClr val="B31166">
                    <a:lumMod val="60000"/>
                    <a:lumOff val="40000"/>
                  </a:srgbClr>
                </a:solidFill>
              </a:rPr>
              <a:t>Трафик в некоторых точках намного выше чем в других</a:t>
            </a:r>
            <a:endParaRPr lang="ru-RU" sz="1600" dirty="0">
              <a:solidFill>
                <a:srgbClr val="B31166">
                  <a:lumMod val="60000"/>
                  <a:lumOff val="40000"/>
                </a:srgbClr>
              </a:solidFill>
            </a:endParaRPr>
          </a:p>
        </p:txBody>
      </p:sp>
      <p:sp>
        <p:nvSpPr>
          <p:cNvPr id="5" name="AutoShape 2" descr="data:image/png;base64,iVBORw0KGgoAAAANSUhEUgAAAk8AAAG0CAYAAAAresMpAAAAOnRFWHRTb2Z0d2FyZQBNYXRwbG90bGliIHZlcnNpb24zLjEwLjAsIGh0dHBzOi8vbWF0cGxvdGxpYi5vcmcvlHJYcgAAAAlwSFlzAAAPYQAAD2EBqD+naQAATLVJREFUeJzt3Xt8j/Xj//Hne7OT0xzGDsKcImfxMUNJTbP8ZEkhMkTxoQ+tEr45dUA+5UMlknNyiEJKpDGShWFKRfhMTtscahsLY3v9/ui298fbDnZ5T970uN9u1632er2u1/W6rvdrb8/3dV3vazZjjBEAAAAKxe1mDwAAAOBWQngCAACwgPAEAABgAeEJAADAAsITAACABYQnAAAACwhPAAAAFhCeAAAALCA8AQAAWEB4AgAAdj/88IP8/f11/vx5e9nQoUPVpUuXmzgq10J4ukJ8fLz69Omj6tWry8fHR6VLl1aDBg304osv6vjx4zd7eAAA3HC1a9eWp6enWrVqpeHDh+uJJ57QO++8owceeOBmD81l2PjbdpIxRsOHD9ekSZNUrFgxtWvXTg0aNFBmZqa2bt2q7du3q3jx4po/fz7JGwBw29u5c6eGDBmihIQElSlTRk8++aRee+01ubu73+yhuQTCk6RXXnlFY8aMUXBwsD7//HPVq1fPof6TTz5Rz549denSJa1fv15t27a9SSMFAAA3nfmbS0xMNMWKFTMeHh7m+++/z7fd9OnTjSRTu3Ztk5WVZS+fO3eukXTNJceYMWMK1T6vdTZu3JhrXA899JCRZKpWrepQfuW43nvvvTz3qXXr1rm2ZYwxFy9eNO+8846JiIgwVapUMZ6enqZs2bLmgQceMGvWrCnocBa4P3PnzrW3S0xMNJJMVFRUgf3l2Lhxo5FkxowZk2d9VFSUkWQSExNz1S1dutTcc889pnTp0sbb29vUr1/fjB8/3ly4cCHPvo4ePWoGDRpkqlWrZjw9PU25cuVMx44dzfbt2ws1VmPy379z586Ze+65x0gy06ZNy7Xe119/bcLDw03ZsmWNp6enqVWrlnnppZdMampqvtuqWrVqvsf86uMlybRp0yZXH999952x2Wy5XqeCjntB8/Lnn382UVFR5o477jAeHh6mYsWKpnv37mbfvn157kNGRoaZOHGiadq0qSlZsqQpUaKEqVOnjnn22WdNcnLyNffzyuXKY371Oh4eHqZKlSqmR48e5scff8xzLNfzGuRnyZIl5v777zdly5Y1Xl5epmrVqqZbt25mx44d9japqalm0qRJpm3btqZSpUrGw8PD+Pn5mY4dO5qtW7fm2W/O/jRv3jzP+lmzZuX5e5cjPj7edO7c2VSoUMF4enqaKlWqmIEDB5oTJ07kapvf79Ynn3xiihUrZurVq2dOnjxpLz9+/LgZN26cadmypfH39zceHh4mMDDQdO/ePdcxL+z759Xbv3DhgpkwYYKpX7++8fHxMaVKlTKtW7c2S5cuzTX+nN/FK5fixYubO++80wwbNsycOXMmz2OYl8LMwbx+V3755Rfz5JNPmqCgIPvxePLJJ80vv/xS6G1f+Z7y888/m06dOpmyZcua4sWLm1atWpl169blWud655aV94gcRTGnChqDlXl15fGSZB5//PE8t/Pyyy/b2+T1PlaQYteOV7e3uXPn6vLly3r88cfVoEGDfNv169dPr7zyivbv369NmzblOvvUqVMnNW7cONd68+bN06+//mr/+b777nOoT01N1dSpU9WoUSNFRkZaGvuKFSu0Zs2aAtu4u7tr2rRpGjhwoEN5QkKCtmzZInd3d2VlZTnU/fbbbxoyZIhatmypdu3aqUKFCkpKStLq1av10EMP6YMPPlC/fv3y3WbVqlXVu3dvh22tWrXK0r4VlZEjR2rChAny8/PTE088oZIlS+rLL7/UyJEjtW7dOn311Vfy9PS0t9+1a5cefPBB/fbbbwoPD1fnzp11+vRprVy5Uq1bt9aKFSv00EMPXddYzp8/r44dO+qbb77R22+/rX/+858O9e+//74GDhyoEiVK6LHHHlPFihUVGxurN954Q6tXr9a3336rMmXK5Nm3r6+vhg4dav/58OHDmj9/fqHGlZWVpYEDB8oU0UnotWvXqnPnzrp06ZI6duyomjVr6tixY/r000/1xRdfaOPGjbr77rvt7X///Xe1bdtWe/bsUe3atdW3b195enrq0KFDmjt3rjp37ix/f38NHTpUqamp9vViY2O1adMmRUVFKTg42F5+9e/hlcfm4sWLSkhI0EcffaTPP/9cv/zyiypWrGhv68xrcCVjjPr06aP58+fLz89PnTt3VoUKFXTs2DFt3LhRtWvXVrNmzSRJP//8s/7v//5P9957rzp06KCyZcvqyJEj+uyzz/Tll19q9erVat++fa5tuLu7a/v27YqPj7f3leOdd97J83dbkj7//HM9+uijMsaoS5cuqlq1qnbu3Knp06dr1apV2rJli6pVq1bg/q1evVrdunVTrVq1tGHDBlWoUMFet3nzZk2cOFFt27bVo48+qpIlS+rAgQNavny5PvvsM3377bdq1KiRpD9fqzFjxjj0PW7cuFzvIZLsxz0zM1Ph4eHatGmT6tSpo0GDBumPP/7Q8uXL1bVrVyUkJGj8+PG5xnzle+y5c+f09ddfa9KkSdq8ebPi4uIK3N8rXf27liO/37kdO3YoLCxMZ8+e1cMPP6y6detq3759WrhwoVatWqWvv/5a//jHPwq9/cTERIWGhqpBgwZ65plnlJSUpKVLlyoiIkKLFi1S165d7W2vd25d7VrvEUUxp67Fyry6kru7u1asWKGkpCQFBgbayzMzMzVz5sx8f0+uyVLUug3df//9RpKZOXPmNds+8cQTRpJ59dVX7WU5n5zySuLGGNOmTZtcZ3auVJgzMHl9ws/IyDBVqlQxVapUMf7+/vmeeercubORZDZs2OBQ37dvXxMYGGhatmyZa3wXLlwwR48ezTWO1NRUU69ePVO2bFnzxx9/5Kq/dOmSkWTuu+++PMfyV5952rp1q5FkKleubJKSkhzG+f/+3/8zkszrr7/uUF6jRg3j5eVlYmNjHfo/fvy4CQoKMgEBAfmesbrS1ft3/vx5065dOyPJTJ48OVf7w4cPG09PT1OqVCnz888/O9QNHDjQSDL9+/fPc1uVKlUywcHBDmX5HS/l8YnunXfeMZLMP/7xj1yvU2xsrJFkRo8enWu7ec3L3377zZQpU8aUL18+16fBH374wZQoUcI0adLEobx79+5GkhkwYIDDWV1jjDl79my+Z3wKOvOVo2rVqrl+N4wxJjo62khyOFPhzGtwtffff99+TK8e/+XLlx0+jaempppTp07l6uPo0aMmMDDQ1KlTJ1edJNOyZUsTEBBgevXq5VC3efNmI8k8+uijuV7Ps2fPmnLlyhk3NzezefNmh/UmTpxoJJl27do5lF/9u7VmzRrj6elpateu7fB7lSMlJcWkp6fnKk9ISDAlSpQw7du3z1V39b7ldeYjx/jx440kExERYS5duuSw3ZwzQ99++629PL/3msuXL5vmzZsbSSYlJaXAMeXIbz4Zk/fvXHZ2tqlTp46RZBYuXOjQfsmSJUbKfTUjP1eeSXnhhRcc6nbs2GGKFStmypQpY9LS0uzl1zu3rLxHFMWcKswYrM6rnOP10EMPGS8vr1zvYQsWLHD4N9Lqmae//bftkpKSJEmVK1e+ZtucNidOnLihYyqMV199VUeOHNGUKVPk7e2db7sOHTqoWrVqevfdd+1lZ86c0aJFi/T000/Lw8Mj1zpeXl664447cpX7+vqqb9+++v3337Vjx45c9ZcuXbKv7wrmzJkjSXr55ZcVEBBgLy9WrJjeeustubm5adasWfbyL774QocOHdKzzz6rNm3aOPQVFBSkYcOGKTk5WTExMZbGkZmZqc6dO2v9+vWaNGmSnnvuuVxtFi5cqMzMTA0ePFh16tRxqHv99ddVqlQpffjhh7p48WKudS9dunTdxzwlJUUvv/yymjRpomeeeSZXfc5ZmSvPnhZkwYIFSk1N1bhx41S3bl2Huvr166t///7avXu3fvrpJ0nSyZMntXTpUgUGBurNN9+Um5vjW1LJkiXl6+t7PbtWoMuXL0uSw7xw5jW42jvvvCPpzzNZV4/f3d3d4ROwr6+v/Pz8cvVxxx13qEuXLtq3b5+OHDmSq97Dw0PPPPOMli5dqtOnTztsu3r16nmeIV21apV+++03de3aVffcc49D3fPPP6/g4GCtX78+z+1J0vr169W5c2dVrVpVGzZscDh+OSpWrKhSpUrlKm/UqJHuv/9+bdy40f5ecT3mzJkjm82myZMnq1ix/108qVixokaNGiVJDr/X+THG6PLly/L29r4hc0yStm7dqn379ik0NFQ9evRwqOvatatat26t/fv3a8uWLYXu09fXV6NHj3Yoa9asmXr06KHU1FStWLHCoe31zK0rXes9wtk5VVjXO68qVKigbt26aebMmQ7177zzjtq0aVPgFaeC/O0v292K9u3bp7feeksRERF65JFH8vzHOIebm5sGDRqkl156SceOHdMdd9yhWbNmKSsrS88884xiY2PzXO/HH3/Uv//9b23evFlJSUm6cOGCQ31ej25IT0+XpALD3NUSEhI0duxY+3pBQUFq2bKlatasmWf72NhYe/ur+7narl27JEn3339/rro777xTd9xxhxITE5WWliZfX1/7qftff/01z20cOHBA0p+nwgt76e7SpUvq0qWLvvzySwUEBGjQoEF5titorGXLllWTJk20efNm7du3L9ep6fT0dId/jK144YUXlJ6ervfee0/79u3LVV+jRg1VqFBBy5YtU7du3XT//fc7XOa8Ws4x3LNnT57H8JdffpH05zGsW7euduzYoezsbN17770qUaLEde3DtaSmptrHkpmZqZ07dyomJka9e/fWvffea2/nzGtwpYyMDO3du1f+/v5q0qRJocb47bffaurUqYqLi9PJkyeVmZnpUH/8+HFVqVIl13rPPPOMxo8frw8++EAjRozQ8ePHtWLFCk2cODFXEL3WPhYrVkz33nuvDh8+rN27d+fa3saNGzVo0CBduHBBAwYMUFBQUL7788UXX2jGjBmKj4/X6dOn7WE1x+nTp69rzp49e1YHDx5UpUqVcgXcK/dr9+7duequfK85e/as1q9fr0OHDuk///nPDfvAV9DxzinfsmWLdu/e7TAXC3L33XfnGSLuu+8+zZ8/X7t371ZUVJS9/HrnVo5rvUc4M6emTJlSqMvgOa53Xj377LOaP3++li9fru7du2vbtm3asWOHli9frh9++KHQ23fYt+ta6zYSEBCgn3/+WUePHr1m25w2Bb1p/BUGDRokd3d3+6fba+nbt69Gjx6t6dOn65VXXtF7772nRx99NN83r++++07333+/Ll++rAceeEAPP/ywSpcuLTc3N/v9S3l9+s759HvlPSTXsmfPHu3Zs8ehzGaz6YknntC8efMcPllK0qZNm7Rp06ZC9Z2WliZJ+e5nYGCgjhw5otTUVPn6+urMmTOSpGXLlhXY77lz5wq1fUlaunSpsrKy1KZNG23atEnPP/+8pk+ffl1jleRwz4/05z/UFy5csHTMc2zatEkLFy5Uv3791KJFizzfGD09PfX++++rZ8+eioiIuGafOcfwgw8+KLBdzjHM2Z9KlSpZHH3hpaWlady4cQ5lwcHBue4Tut7X4GpW92nFihXq0qWLvL291a5dO9WoUUMlSpSQm5ub/b6u/M52BQYGqkuXLpoxY4aGDRum6dOny9PTU3379s3zPkNn9rF///664447ZLPZNGbMGHXq1Ek1atTI1W7q1KkaOnSoypYtq3bt2qlKlSoqXry4bDabVq5cqT179hTq7F1enBl/Xu81ISEhee5DUSmqOXUlf3//PMtzzgLmbFNybm5JhXuPcGYfp06dmu+282p7vfOqadOmCg0N1bvvvqvu3bvrnXfe0R133KHIyEjC0/Vq3bq1Nm7cqK+//lr9+/fPt11WVpb9LE2rVq3+otHltnjxYm3YsEFjxowp9C992bJl1bNnT82aNUsNGjTQkSNHtGjRonzbv/baazp//rw2btyY6wb3CRMm5Hvz98GDByXJ0o2BUVFRmjdvniTpwoULSkhI0NNPP62PPvpI9957r55++mmH9mPGjMnzjEbv3r1z3ayZcyo+OTk5z2OVc8k2p13Of1etWqWHH3640PtQkKysLI0YMUKvv/66IiIiNGPGDHXs2DHXmasrx3r1ozLyGmuO6znm0p+XrQYNGqTy5ctr4sSJBbZ95JFHtG/fPn311Vc6duyY/abRnDffvPZjz549atiw4TXHkfOp80Y+hLZq1ao6fPiwpD/3+/Dhwxo9erQGDx6sjIwMDRs2TNL1vwZXs7pPo0aNkqenp+Lj43XXXXc51D3zzDPX/LDw7LPPavHixVq2bJlmzpypJ554QmXLls2z7ZX7mJeC9jEwMFAbNmzQiRMn1KZNGz355JP65ptvHJ77c/nyZY0dO1YBAQHatWtXrn9QrdyYXdTjv/q95vvvv9czzzyj9u3b69tvv1WLFi2cGltRjzc/KSkpeZbnbOPKvpyZW4V9j3BmHxMTEx2+7JHDZrPlGouz8+rZZ5/VE088obVr12rZsmUaPXq0U8+s+tvf89S7d2/73fg//vhjvu3mzJmjEydOqHbt2rnuh/mrpKen6/nnn1f16tU1fPhwS+sOHjxYJ0+e1IABA9SkSZMCA+DBgwdVrly5XMFJUoG/bDkT+OpP9IXl7e2tFi1a2MPR9u3br6ufHDmXTPK6NHnw4EEdO3ZM1apVs/9jl/Pm+c033zi13StFRERo/Pjxstlsmjt3rsqXL6++ffvq1KlThR5ramqqEhIS5O3tnesN8HqP+ZQpU/Tjjz9qwoQJKl++/DXbV65cWU899ZQ9vI4dOzbP+WH1GDZv3lxubm7avHmzMjIyLO3D9ShWrJhq1qypadOmSZI++ugje931vgZXK1GihOrXr6+UlJQ8Lx9d7eDBg6pbt26ufrOzswt1L0xoaKiaNm2qAQMG6NSpU3r22WfzbVvQPl6+fNn+ul35bcgcn3zyiapXr67WrVvrpZdeUlxcXK5vtZ0+fVqpqalq2bJlrn/gzp07Z7/Ec71KlSqlGjVq6Pjx4/bL6FfauHFjvuO/kre3t5o3b67Ro0crOztbixcvdmpc+SnoeEuFH++Vdu3apbNnz+Yqz9nGlZeKnZlbhX2PcGZOFVZRzKsuXbooMDBQ3bp1k81my/XB3Kq/fXiqXr26Ro4cqUuXLunhhx+238h6pZUrV2rIkCFyd3fX9OnT87yX4K/wyiuvKCkpSe+8846l+4okqUGDBoqMjFTJkiUVHR1dYNvg4GD99ttv+v777x3KZ8+erXXr1uW5zq+//qo5c+aoQoUKef6jakXOm2J+n54Lq2/fvpL+PJN2ZVjJysrSCy+8oOzsbD311FP28pzLENOmTcv3ERBxcXH6448/Cj2GKy+nBQYG6v3331dKSkqus5w9e/aUh4eH3nnnHfvZpByjRo1Senq6evbs6XBvxm+//aapU6fK09PT0pmypKQkjRs3TiEhIQU+cuJ69OnTR2XKlNG4cePyDL/Z2dkOb7I5N3MmJSXZX5MrnTt3zuEyRFHJuXxz5Sfc63kN8vOvf/1L0p+f7q8ef3Z2tv3TuPTn79uBAwccvohijNHYsWPzfD/Ky/PPP6+SJUuqY8eOBZ7xi4yMVLly5bR48WJ99913DnVTpkxRYmKiwsLC8rwH5sq5PG7cODVp0kSvvPKKw5dHKlasqOLFi2vnzp0Ol7cvXbqkIUOGONzYfr369u0rY4xefPFFh6+Ynz59Wq+++qq9TWHkNQ+KUqtWrVS7dm1t2bJFy5cvd6hbvny5vvnmG915551q3bp1oftMS0vTK6+84lAWHx+vjz76SL6+vnrkkUfs5dc7t6y8RzgzpwqrKOaVh4eHhg4dqpIlS+qpp55yeLzG9fjbX7aTpLFjxyojI0OTJ09Wo0aNFB4ernr16unSpUvaunWrtm3bJh8fHy1evPimPl18586dioyMvO7nDF35LYyCDB06VOvWrVPr1q31+OOPy9fXV/Hx8dqyZYu6dOmS602gT58+Wr58uc6fP6/Fixfn+Q2+/Ozfv18zZsyQ9L/LdosWLZK3t7fDTY/Xo2XLlho2bJgmTZqk+vXrq0uXLipRooS+/PJL7d27V61bt9aLL75ob+/h4aFPP/1U4eHh6tChg1q2bKnGjRurePHiOnr0qHbs2KH//ve/SkpKUvHixa9rTI8++qiioqI0f/58zZ492x7egoODNWXKFA0aNEh33323Hn/8cVWoUEGbNm1SXFyc6tSpozfeeMPez4gRIzRr1iydPn1akydPzvc+iLz88ssvcnNz03vvvVfk/2iUL19ey5cv1yOPPKIWLVrogQceUL169WSz2XT06FHFxcXpzJkzDl9AePfdd7V3717NmDFDsbGxCg8Pl6enpxITE7Vu3Tp99tlnTgXyK28Yz8rK0uHDh/Xpp59KkgYMGGBvZ/U1KEi/fv30zTff6MMPP1StWrXUqVMnVahQQSdOnNCGDRvUt29f+5iee+45+xnhRx99VB4eHvr222/1008/qWPHjlq9evU1t9e9e3d17979mu1KliypOXPm6LHHHlObNm302GOPqUqVKtq5c6e++uorBQQE6P33379mPx4eHvroo4/UtGlT9ezZU7t371bx4sXl5uamf/3rX5o4caIaNGigTp06KTMzUxs3btRvv/2mtm3b2s+2XK8XXnhBX375pVatWqVGjRrpoYce0h9//KFly5bp5MmTGjZsWJ5h5MobxnMu261du1ZeXl65nilVVGw2m+bPn6927dqpa9eu6tSpk+rUqaP9+/dr5cqVKlWqlBYsWGDpA/m9996rWbNmadu2bWrVqpX9OU/Z2dl6//33Vbp0aXvb651bVt4jimpOFaSo5tWwYcPsl+mdZunBBre5bdu2mV69epng4GDj7e1tSpQoYerVq2eef/75PJ97ZMxf+5yn4sWLm8OHD+eqz+vZI9ca17XGt3r1ahMSEmJKlixpfH19Tbt27cymTZvy7Nff3988+uij+T6xtqDnPF25eHp6muDgYPPEE0+YhIQEhz6cecL44sWLTatWrUzJkiWNl5eXqVu3rnnttdfM+fPn8+wrJSXFvPTSS6ZevXrGx8fHlChRwtSsWdM8+uij5sMPP3R4tkx+Cnpd09LSTHBwsClZsqQ5ePCgQ926detMu3btTJkyZYynp6epUaOGefHFF83vv//u0K5Jkyamffv2+T7xvaDnPEky//znP3OtU9g5k6Og5ywlJiaaQYMGmZo1axovLy9TqlQpU7t2bdOzZ0+zYsWKXO3PnTtnXnvtNdOgQQPj4+NjSpYsae666y4zZMiQfJ/BU9jnPF05x9zc3ExgYKAJCwszq1atynOdwr4GhbFw4UJz7733mtKlSxsvLy/7/N65c6dDu7lz55pGjRqZ4sWLm/Lly5vIyEjz/fff57uPusazkHL6zO/13L59u4mMjDR+fn7Gw8PDVK5c2QwYMMAcP348V9uCfrfefvttI8kMHDjQXnbp0iXz1ltvmbvuust4e3sbf39/07NnT3P48OFrPt+nsPt2/vx58/rrr5t69eoZb29vU7JkSdOqVSuzaNGiXG2tvtcUxOpznnLs27fP9OzZ0wQEBJhixYqZgIAA06NHj3yfuJ+XK99TfvrpJ/Pwww+bMmXKGB8fH9OyZUuzdu3aPNe7nrl1Pe8RRTWncsZw9RywOq8K+yzBwryP5IW/bQcAgIs7fPiwqlWr5nDjO26ev/09TwAAAFYQngAAACwgPAEAAFjAPU8AAAAWcOYJAADAAsITAACABYSnQjDGKD09XVzhBAAAhKdCOHv2rHx9ffP8e0IAAODvhfAEAABgAeEJAADAAsITAACABYQnAAAACwhPAAAAFhCeAAAALCA8AQAAWEB4AgAAsIDwBAAAYAHhCQAAwALCEwAAgAWEJwAAAAtcKjxNmDBB//jHP1SqVClVrFhRkZGR2r9//zXXW7ZsmerUqSNvb281aNBAa9ascag3xmj06NEKDAyUj4+PwsLCdODAgRu1GwAA4DbmUuFp06ZNGjRokL777jutX79ely5d0oMPPqiMjIx819m6dau6d++up556Srt371ZkZKQiIyO1d+9ee5tJkybp7bff1owZM7Rt2zaVKFFC4eHhunDhwl+xWwAA4DZiM8aYmz2I/Jw6dUoVK1bUpk2bdO+99+bZpmvXrsrIyNDnn39uL2vRooUaN26sGTNmyBijoKAgPf/883rhhRckSWlpafL399e8efPUrVu3a44jPT1dvr6+SktLU+nSpYtm5wAAwC3Jpc48XS0tLU2SVK5cuXzbxMXFKSwszKEsPDxccXFxkqTExEQlJyc7tPH19VVISIi9zdUuXryo9PR0hwUAAECSit3sAeQnOztbQ4cOVatWrVS/fv182yUnJ8vf39+hzN/fX8nJyfb6nLL82lxtwoQJGjdunDPDB/62god/cUP6PTyxww3pFwCsctkzT4MGDdLevXu1ZMmSv3zbI0aMUFpamn05evToXz4GAADgmlzyzNPgwYP1+eefa/PmzbrjjjsKbBsQEKCUlBSHspSUFAUEBNjrc8oCAwMd2jRu3DjPPr28vOTl5eXEHgAAgNuVS515MsZo8ODBWrFihTZs2KBq1apdc53Q0FDFxMQ4lK1fv16hoaGSpGrVqikgIMChTXp6urZt22ZvAwAAUFgudeZp0KBBWrRokVatWqVSpUrZ70ny9fWVj4+PJKlXr16qVKmSJkyYIEkaMmSI2rRpo7feeksdOnTQkiVLFB8fr5kzZ0qSbDabhg4dqtdee021atVStWrVNGrUKAUFBSkyMvKm7CcAALh1uVR4mj59uiTpvvvucyifO3euevfuLUk6cuSI3Nz+d8KsZcuWWrRokV5++WWNHDlStWrV0sqVKx1uMh82bJgyMjL09NNPKzU1Va1bt9batWvl7e19w/cJAADcXlz6OU+uguc8AYXHt+0A3O5c6p4nAAAAV0d4AgAAsIDwBAAAYAHhCQAAwALCEwAAgAWEJwAAAAsITwAAABYQngAAACwgPAEAAFhAeAIAALCA8AQAAGAB4QkAAMACwhMAAIAFhCcAAAALCE8AAAAWEJ4AAAAsIDwBAABYQHgCAACwgPAEAABgAeEJAADAAsITAACABYQnAAAACwhPAAAAFhCeAAAALCA8AQAAWEB4AgAAsIDwBAAAYAHhCQAAwALCEwAAgAWEJwAAAAsITwAAABYQngAAACwgPAEAAFjgUuFp8+bN6tixo4KCgmSz2bRy5coC2/fu3Vs2my3XUq9ePXubsWPH5qqvU6fODd4TAABwu3Kp8JSRkaFGjRpp2rRphWo/depUJSUl2ZejR4+qXLlyeuyxxxza1atXz6Hdli1bbsTwAQDA30Cxmz2AK0VERCgiIqLQ7X19feXr62v/eeXKlfr999/Vp08fh3bFihVTQEBAkY0TAAD8fbnUmSdnzZ49W2FhYapatapD+YEDBxQUFKTq1aurR48eOnLkSIH9XLx4Uenp6Q4LAACAdBuFpxMnTujLL79Uv379HMpDQkI0b948rV27VtOnT1diYqLuuecenT17Nt++JkyYYD+r5evrq8qVK9/o4QMAgFvEbROe5s+frzJlyigyMtKhPCIiQo899pgaNmyo8PBwrVmzRqmpqfr444/z7WvEiBFKS0uzL0ePHr3BowcAALcKl7rn6XoZYzRnzhw9+eST8vT0LLBtmTJldOedd+rgwYP5tvHy8pKXl1dRDxMAANwGboszT5s2bdLBgwf11FNPXbPtuXPndOjQIQUGBv4FIwMAALcblwpP586dU0JCghISEiRJiYmJSkhIsN/gPWLECPXq1SvXerNnz1ZISIjq16+fq+6FF17Qpk2bdPjwYW3dulWPPPKI3N3d1b179xu6LwAA4PbkUpft4uPj1bZtW/vP0dHRkqSoqCjNmzdPSUlJub4pl5aWpk8++URTp07Ns89jx46pe/fuOnPmjCpUqKDWrVvru+++U4UKFW7cjgAAgNuWzRhjbvYgXF16erp8fX2Vlpam0qVL3+zhAC4tePgXN6TfwxM73JB+AcAql7psBwAA4OoITwAAABYQngAAACwgPAEAAFhAeAIAALCA8AQAAGAB4QkAAMACwhMAAIAFhCcAAAALCE8AAAAWEJ4AAAAsIDwBAABYQHgCAACwgPAEAABgAeEJAADAAsITAACABYQnAAAACwhPAAAAFhCeAAAALCA8AQAAWEB4AgAAsIDwBAAAYAHhCQAAwALCEwAAgAWEJwAAAAsITwAAABYQngAAACwgPAEAAFhAeAIAALCA8AQAAGAB4QkAAMACwhMAAIAFhCcAAAALXCo8bd68WR07dlRQUJBsNptWrlxZYPvY2FjZbLZcS3JyskO7adOmKTg4WN7e3goJCdH27dtv4F4AAIDbmUuFp4yMDDVq1EjTpk2ztN7+/fuVlJRkXypWrGivW7p0qaKjozVmzBjt2rVLjRo1Unh4uE6ePFnUwwcAAH8DxW72AK4UERGhiIgIy+tVrFhRZcqUybNu8uTJ6t+/v/r06SNJmjFjhr744gvNmTNHw4cPd2a4AADgb8ilzjxdr8aNGyswMFDt2rXTt99+ay/PzMzUzp07FRYWZi9zc3NTWFiY4uLi8u3v4sWLSk9Pd1gAAACkWzw8BQYGasaMGfrkk0/0ySefqHLlyrrvvvu0a9cuSdLp06eVlZUlf39/h/X8/f1z3Rd1pQkTJsjX19e+VK5c+YbuBwAAuHW41GU7q2rXrq3atWvbf27ZsqUOHTqk//znP/rwww+vu98RI0YoOjra/nN6ejoBCgAASLrFw1Nemjdvri1btkiS/Pz85O7urpSUFIc2KSkpCggIyLcPLy8veXl53dBxAgCAW9MtfdkuLwkJCQoMDJQkeXp6qmnTpoqJibHXZ2dnKyYmRqGhoTdriAAA4BbmUmeezp07p4MHD9p/TkxMVEJCgsqVK6cqVapoxIgROn78uBYsWCBJmjJliqpVq6Z69erpwoULmjVrljZs2KCvvvrK3kd0dLSioqLUrFkzNW/eXFOmTFFGRob923cAAABWuFR4io+PV9u2be0/59x3FBUVpXnz5ikpKUlHjhyx12dmZur555/X8ePHVbx4cTVs2FBff/21Qx9du3bVqVOnNHr0aCUnJ6tx48Zau3ZtrpvIAQAACsNmjDE3exCuLj09Xb6+vkpLS1Pp0qVv9nAAlxY8/Isb0u/hiR1uSL8AYNVtd88TAADAjUR4AgAAsIDwBAAAYAHhCQAAwALCEwAAgAWEJwAAAAsITwAAABYQngAAACwgPAEAAFhAeAIAALCA8AQAAGAB4QkAAMACwhMAAIAFhCcAAAALCE8AAAAWEJ4AAAAsIDwBAABYQHgCAACwgPAEAABgAeEJAADAAsITAACABYQnAAAACwhPAAAAFhCeAAAALCA8AQAAWEB4AgAAsIDwBAAAYAHhCQAAwALCEwAAgAWEJwAAAAsITwAAABYQngAAACwgPAEAAFjgVHhKSkoqqnFIkjZv3qyOHTsqKChINptNK1euLLD9p59+qnbt2qlChQoqXbq0QkNDtW7dOoc2Y8eOlc1mc1jq1KlTpOMGAAB/H06Fp8qVK+vBBx/Uhx9+qIyMDKcHk5GRoUaNGmnatGmFar9582a1a9dOa9as0c6dO9W2bVt17NhRu3fvdmhXr149JSUl2ZctW7Y4PVYAAPD3VMyZlV955RUtWrRIUVFRGjhwoCIjI9WzZ089+OCDcnOznssiIiIUERFR6PZTpkxx+Hn8+PFatWqVVq9erSZNmtjLixUrpoCAAMvjAQAAuJpTZ55GjhypvXv3aufOnRowYIBiY2P10EMPKSgoSM8995zi4+OLapyFkp2drbNnz6pcuXIO5QcOHFBQUJCqV6+uHj166MiRIwX2c/HiRaWnpzssAAAAUhHdMN6kSRO9+eabOnr0qNavX68OHTpo7ty5CgkJUd26dTV+/PhrBpai8Oabb+rcuXN6/PHH7WUhISGaN2+e1q5dq+nTpysxMVH33HOPzp49m28/EyZMkK+vr32pXLnyDR87AAC4NRTpt+1sNpvuuecePfTQQ2rRooWMMTpw4IDGjh2r6tWr67HHHivym8xzLFq0SOPGjdPHH3+sihUr2ssjIiL02GOPqWHDhgoPD9eaNWuUmpqqjz/+ON++RowYobS0NPty9OjRGzJmAABw6ymy8LRx40b169dP/v7+evzxx5WcnKw333xTx44dU1JSkiZOnKiYmBg9+eSTRbVJuyVLlqhfv376+OOPFRYWVmDbMmXK6M4779TBgwfzbePl5aXSpUs7LAAAAJKTN4zv2bNHH330kRYvXqwTJ04oICBA/fr1U69evdSgQQOHti+88IK8vb31wgsvODXgqy1evFh9+/bVkiVL1KFDh2u2P3funA4dOnRDQhwAALj9ORWemjRpIh8fH0VGRqpXr15q165dgd+yq1evnkJDQ/OtP3funMMZocTERCUkJKhcuXKqUqWKRowYoePHj2vBggWSZP+m39SpUxUSEqLk5GRJko+Pj3x9fSX9Gdo6duyoqlWr6sSJExozZozc3d3VvXt3Z3YdAAD8TTkVnubMmaMuXbqoZMmShWrftm1btW3bNt/6+Ph4h/ro6GhJUlRUlObNm6ekpCSHG89nzpypy5cva9CgQRo0aJC9PKe9JB07dkzdu3fXmTNnVKFCBbVu3VrfffedKlSoYGVXAQAAJEk2Y4y52YNwdenp6fL19VVaWhr3PwHXEDz8ixvS7+GJ174sDwB/BaduGH/77bcVHh6eb31ERISmT5/uzCYAAABcilPhafbs2apbt26+9XXr1tXMmTOd2QQAAIBLcSo8HTp0SHfddVe+9XXq1NGhQ4ec2QQAAIBLcSo8eXp62r/hlpekpKTr+ht3AAAArsqpZNOiRQvNmzcvzz91kpaWprlz56pFixbObAIAAMClOPWogjFjxqhNmzZq3Lixhg4dqnr16kmS9u7dqylTpigpKUmLFi0qkoECAAC4AqfCU0hIiFavXq1nnnlGQ4YMkc1mkyQZY1StWjV99tlnBT4UEwAA4FbjVHiSpHbt2ungwYPavXu3/ebwGjVq6O6777aHKQAAgNuF0+FJktzc3NS0aVM1bdq0KLoDAABwWUUSnn766Sf997//1e+//668Hljeq1evotgMAADATedUeDp06JB69uyp7du35xmaJMlmsxGeAADAbcOp8PTMM8/ohx9+0JQpU3TPPfeobNmyRTUuAAAAl+RUePr22281cuRIPfvss0U1HgAAAJfm1EMy/fz85OvrW1RjAQAAcHlOhacBAwZo4cKFysrKKqrxAAAAuDSnLtvdeeedysrKUqNGjdS3b19VrlxZ7u7uudp17tzZmc0AAAC4DKfCU9euXe3//8ILL+TZxmazcWYKAADcNpwKTxs3biyqcQAAANwSnApPbdq0KapxAAAA3BKK5AnjFy9e1K5du3Ty5Em1atVKfn5+RdEtAACAy3Hq23aS9PbbbyswMFCtW7dW586d9f3330uSTp8+LT8/P82ZM8fpQQIAALgKp8LT3LlzNXToULVv316zZ892+BMtfn5+uv/++7VkyRKnBwkAAOAqnApPb731ljp16qRFixapY8eOueqbNm2qH3/80ZlNAAAAuBSnwtPBgwcVERGRb325cuV05swZZzYBAADgUpwKT2XKlNHp06fzrf/pp58UEBDgzCYAAABcilPh6aGHHtLMmTOVmpqaq+7HH3/UBx98oIcfftiZTQAAALgUp8LTa6+9pqysLNWvX18vv/yybDab5s+fr549e6pZs2aqWLGiRo8eXVRjBQAAuOmcCk9BQUHauXOn2rdvr6VLl8oYow8//FCrV69W9+7d9d133/HMJwAAcFuxmSufL+CkU6dOKTs7WxUqVJCbm9OPkHIZ6enp8vX1VVpamkqXLn2zhwO4tODhX9yQfg9P7HBD+gUAq4rkCeM5KlSoUJTdAQAAuBynwtMrr7xyzTY2m02jRo1yZjMAAAAuw6nLdgVdmrPZbDLGyGazKSsr63o34RK4bAcUHpftANzunLoxKTs7O9dy+fJlHTp0SM8995yaNWumkydPFtVYAQAAbroiv6vbzc1N1apV05tvvqlatWrp2WefLfS6mzdvVseOHRUUFCSbzaaVK1dec53Y2Fjdfffd8vLyUs2aNTVv3rxcbaZNm6bg4GB5e3srJCRE27dvt7BHAAAA/3NDvxJ37733as2aNYVun5GRoUaNGmnatGmFap+YmKgOHTqobdu2SkhI0NChQ9WvXz+tW7fO3mbp0qWKjo7WmDFjtGvXLjVq1Ejh4eGcEQMAANelSL9td7X4+HhLjyyIiIgo8G/lXW3GjBmqVq2a3nrrLUnSXXfdpS1btug///mPwsPDJUmTJ09W//791adPH/s6X3zxhebMmaPhw4db2BsAAAAnw9OCBQvyLE9NTdXmzZv16aefql+/fs5sokBxcXEKCwtzKAsPD9fQoUMlSZmZmdq5c6dGjBhhr3dzc1NYWJji4uLy7ffixYu6ePGi/ef09PSiHTgAALhlORWeevfunW+dn5+fhg8ffkP/PEtycrL8/f0dyvz9/ZWenq7z58/r999/V1ZWVp5t9u3bl2+/EyZM0Lhx427ImPNyo76ddCPxzSfg9sU3JpEf5safnApPiYmJucpsNpvKli2rUqVKOdP1TTVixAhFR0fbf05PT1flypVv4ogAAICrcCo8Va1atajGcV0CAgKUkpLiUJaSkqLSpUvLx8dH7u7ucnd3z7NNQEBAvv16eXnJy8vrhowZAADc2m7pP0AXGhqqmJgYh7L169crNDRUkuTp6ammTZs6tMnOzlZMTIy9DQAAgBVOnXlyc3OTzWaztI7NZtPly5fzrDt37pwOHjxo/zkxMVEJCQkqV66cqlSpohEjRuj48eP2G9UHDBigd999V8OGDVPfvn21YcMGffzxx/rii/9dk42OjlZUVJSaNWum5s2ba8qUKcrIyLB/+w4AAMAKp8LT6NGjtXLlSv34448KDw9X7dq1JUn79u3TV199pfr16ysyMrLQ/cXHx6tt27b2n3PuO4qKitK8efOUlJSkI0eO2OurVaumL774Qs8995ymTp2qO+64Q7NmzbI/pkCSunbtqlOnTmn06NFKTk5W48aNtXbt2lw3kQMAABSGU+EpKChIJ0+e1N69e+3BKcfPP/+s+++/X0FBQerfv3+h+rvvvvtU0J/ay+vp4ffdd592795dYL+DBw/W4MGDCzUGAACAgjh1z9O///1vDR48OFdwkv58YOXgwYM1adIkZzYBAADgUpwKT8eOHZOHh0e+9R4eHjp27JgzmwAAAHApToWn+vXr67333tPx48dz1R07dkzvvfeeGjRo4MwmAAAAXIpT9zzl/A25O++8U4888ohq1qwpSTpw4IBWrlwpY4wWLlxYJAMFAABwBU6Fp9atW2vbtm0aNWqUVqxYofPnz0uSfHx8FB4ernHjxnHmCQAA3FacCk/Sn5fuVqxYoezsbJ06dUqSVKFCBbm53dLP3wQAAMiT0+Eph5ubm7y9vVWyZEmCEwAAuG05nXLi4+PVvn17FS9eXOXLl9emTZskSadPn1anTp0UGxvr7CYAAABchlPhaevWrWrdurUOHDignj17Kjs7217n5+entLQ0vf/++04PEgAAwFU4FZ5Gjhypu+66Sz/99JPGjx+fq75t27batm2bM5sAAABwKU6Fpx07dqhPnz7y8vLK8w8EV6pUScnJyc5sAgAAwKU4FZ48PDwcLtVd7fjx4ypZsqQzmwAAAHApToWnFi1aaPny5XnWZWRkaO7cuWrTpo0zmwAAAHApToWncePGKT4+Xh06dNCXX34pSdqzZ49mzZqlpk2b6tSpUxo1alSRDBQAAMAVOPWcp5CQEK1Zs0YDBw5Ur169JEnPP/+8JKlGjRpas2aNGjZs6PwoAQAAXMR1hydjjM6ePauWLVtq//79SkhI0IEDB5Sdna0aNWqoadOmed5EDgAAcCu77vCUmZmpcuXKafz48Ro2bJgaN26sxo0bF+HQAAAAXM913/Pk5eWlgIAAeXl5FeV4AAAAXJpTN4z37t1bCxYsUGZmZlGNBwAAwKU5dcN4gwYNtHLlStWrV0+9e/dWcHCwfHx8crXr3LmzM5sBAABwGU6Fp+7du9v/P79HEthsNmVlZTmzGQAAAJdhOTyNHDlS3bp1U8OGDbVx48YbMSYAAACXZTk8TZw4UfXr11fDhg3Vpk0bnTlzRhUrVtT69et1//3334gxAgAAuAynbhjPYYwpim4AAABcXpGEJwAAgL8LwhMAAIAF1/Vtu8OHD2vXrl2SpLS0NEnSgQMHVKZMmTzb33333dc3OgAAABdzXeFp1KhRuR5N8M9//jNXO2MMjyoAAAC3Fcvhae7cuTdiHAAAALcEy+EpKirqRowDAADglsAN4wAAABYQngAAACwgPAEAAFjgkuFp2rRpCg4Olre3t0JCQrR9+/Z82953332y2Wy5lg4dOtjb9O7dO1d9+/bt/4pdAQAAt5nrelTBjbR06VJFR0drxowZCgkJ0ZQpUxQeHq79+/erYsWKudp/+umnyszMtP985swZNWrUSI899phDu/bt2zt8U9DLy+vG7QQAALhtudyZp8mTJ6t///7q06eP6tatqxkzZqh48eKaM2dOnu3LlSungIAA+7J+/XoVL148V3jy8vJyaFe2bNm/YncAAMBtxqXCU2Zmpnbu3KmwsDB7mZubm8LCwhQXF1eoPmbPnq1u3bqpRIkSDuWxsbGqWLGiateurYEDB+rMmTP59nHx4kWlp6c7LAAAAJKLhafTp08rKytL/v7+DuX+/v5KTk6+5vrbt2/X3r171a9fP4fy9u3ba8GCBYqJidEbb7yhTZs2KSIiIt8nn0+YMEG+vr72pXLlyte/UwAA4Lbicvc8OWP27Nlq0KCBmjdv7lDerVs3+/83aNBADRs2VI0aNRQbG6sHHnggVz8jRoxQdHS0/ef09HQCFAAAkORiZ578/Pzk7u6ulJQUh/KUlBQFBAQUuG5GRoaWLFmip5566prbqV69uvz8/HTw4ME86728vFS6dGmHBQAAQHKx8OTp6ammTZsqJibGXpadna2YmBiFhoYWuO6yZct08eJF9ezZ85rbOXbsmM6cOaPAwECnxwwAAP5eXCo8SVJ0dLQ++OADzZ8/Xz///LMGDhyojIwM9enTR5LUq1cvjRgxItd6s2fPVmRkpMqXL+9Qfu7cOb344ov67rvvdPjwYcXExKhTp06qWbOmwsPD/5J9AgAAtw+Xu+epa9euOnXqlEaPHq3k5GQ1btxYa9eutd9EfuTIEbm5OWa+/fv3a8uWLfrqq69y9efu7q7vv/9e8+fPV2pqqoKCgvTggw/q1Vdf5VlPAADAMpcLT5I0ePBgDR48OM+62NjYXGW1a9eWMSbP9j4+Plq3bl1RDg8AAPyNudxlOwAAAFdGeAIAALCA8AQAAGAB4QkAAMACwhMAAIAFhCcAAAALCE8AAAAWEJ4AAAAsIDwBAABYQHgCAACwgPAEAABgAeEJAADAAsITAACABYQnAAAACwhPAAAAFhCeAAAALCA8AQAAWEB4AgAAsIDwBAAAYAHhCQAAwALCEwAAgAWEJwAAAAsITwAAABYQngAAACwgPAEAAFhAeAIAALCA8AQAAGAB4QkAAMACwhMAAIAFhCcAAAALCE8AAAAWEJ4AAAAsIDwBAABY4JLhadq0aQoODpa3t7dCQkK0ffv2fNvOmzdPNpvNYfH29nZoY4zR6NGjFRgYKB8fH4WFhenAgQM3ejcAAMBtyOXC09KlSxUdHa0xY8Zo165datSokcLDw3Xy5Ml81yldurSSkpLsy6+//upQP2nSJL399tuaMWOGtm3bphIlSig8PFwXLly40bsDAABuMy4XniZPnqz+/furT58+qlu3rmbMmKHixYtrzpw5+a5js9kUEBBgX/z9/e11xhhNmTJFL7/8sjp16qSGDRtqwYIFOnHihFauXPkX7BEAALiduFR4yszM1M6dOxUWFmYvc3NzU1hYmOLi4vJd79y5c6pataoqV66sTp066ccff7TXJSYmKjk52aFPX19fhYSE5NvnxYsXlZ6e7rAAAABILhaeTp8+raysLIczR5Lk7++v5OTkPNepXbu25syZo1WrVmnhwoXKzs5Wy5YtdezYMUmyr2elzwkTJsjX19e+VK5c2dldAwAAtwmXCk/XIzQ0VL169VLjxo3Vpk0bffrpp6pQoYLef//96+5zxIgRSktLsy9Hjx4twhEDAIBbmUuFJz8/P7m7uyslJcWhPCUlRQEBAYXqw8PDQ02aNNHBgwclyb6elT69vLxUunRphwUAAEBysfDk6emppk2bKiYmxl6WnZ2tmJgYhYaGFqqPrKws/fDDDwoMDJQkVatWTQEBAQ59pqena9u2bYXuEwAAIEexmz2Aq0VHRysqKkrNmjVT8+bNNWXKFGVkZKhPnz6SpF69eqlSpUqaMGGCJOmVV15RixYtVLNmTaWmpurf//63fv31V/Xr10/Sn9/EGzp0qF577TXVqlVL1apV06hRoxQUFKTIyMibtZsAAOAW5XLhqWvXrjp16pRGjx6t5ORkNW7cWGvXrrXf8H3kyBG5uf3vhNnvv/+u/v37Kzk5WWXLllXTpk21detW1a1b195m2LBhysjI0NNPP63U1FS1bt1aa9euzfUwTQAAgGuxGWPMzR6Eq0tPT5evr6/S0tJuyP1PwcO/KPI+b7TDEzvc7CHARd2o+cyc++vwGiI/zI0/udQ9TwAAAK6O8AQAAGAB4QkAAMACwhMAAIAFhCcAAAALCE8AAAAWEJ4AAAAsIDwBAABYQHgCAACwgPAEAABgAeEJAADAAsITAACABYQnAAAACwhPAAAAFhCeAAAALCA8AQAAWEB4AgAAsIDwBAAAYAHhCQAAwALCEwAAgAWEJwAAAAsITwAAABYQngAAACwgPAEAAFhAeAIAALCA8AQAAGAB4QkAAMACwhMAAIAFhCcAAAALCE8AAAAWEJ4AAAAsIDwBAABYQHgCAACwwCXD07Rp0xQcHCxvb2+FhIRo+/bt+bb94IMPdM8996hs2bIqW7aswsLCcrXv3bu3bDabw9K+ffsbvRsAAOA25HLhaenSpYqOjtaYMWO0a9cuNWrUSOHh4Tp58mSe7WNjY9W9e3dt3LhRcXFxqly5sh588EEdP37coV379u2VlJRkXxYvXvxX7A4AALjNuFx4mjx5svr3768+ffqobt26mjFjhooXL645c+bk2f6jjz7SP//5TzVu3Fh16tTRrFmzlJ2drZiYGId2Xl5eCggIsC9ly5b9K3YHAADcZlwqPGVmZmrnzp0KCwuzl7m5uSksLExxcXGF6uOPP/7QpUuXVK5cOYfy2NhYVaxYUbVr19bAgQN15syZfPu4ePGi0tPTHRYAAADJxcLT6dOnlZWVJX9/f4dyf39/JScnF6qPl156SUFBQQ4BrH379lqwYIFiYmL0xhtvaNOmTYqIiFBWVlaefUyYMEG+vr72pXLlyte/UwAA4LZS7GYPoChNnDhRS5YsUWxsrLy9ve3l3bp1s/9/gwYN1LBhQ9WoUUOxsbF64IEHcvUzYsQIRUdH239OT08nQAEAAEkudubJz89P7u7uSklJcShPSUlRQEBAgeu++eabmjhxor766is1bNiwwLbVq1eXn5+fDh48mGe9l5eXSpcu7bAAAABILhaePD091bRpU4ebvXNu/g4NDc13vUmTJunVV1/V2rVr1axZs2tu59ixYzpz5owCAwOLZNwAAODvw6XCkyRFR0frgw8+0Pz58/Xzzz9r4MCBysjIUJ8+fSRJvXr10ogRI+zt33jjDY0aNUpz5sxRcHCwkpOTlZycrHPnzkmSzp07pxdffFHfffedDh8+rJiYGHXq1Ek1a9ZUeHj4TdlHAABw63K5e566du2qU6dOafTo0UpOTlbjxo21du1a+03kR44ckZvb/zLf9OnTlZmZqS5dujj0M2bMGI0dO1bu7u76/vvvNX/+fKWmpiooKEgPPvigXn31VXl5ef2l+wYAAG59LheeJGnw4MEaPHhwnnWxsbEOPx8+fLjAvnx8fLRu3boiGhkAAPi7c7nLdgAAAK6M8AQAAGAB4QkAAMACwhMAAIAFhCcAAAALCE8AAAAWEJ4AAAAsIDwBAABYQHgCAACwgPAEAABgAeEJAADAAsITAACABYQnAAAACwhPAAAAFhCeAAAALCA8AQAAWEB4AgAAsIDwBAAAYAHhCQAAwALCEwAAgAWEJwAAAAsITwAAABYQngAAACwgPAEAAFhAeAIAALCA8AQAAGAB4QkAAMACwhMAAIAFhCcAAAALCE8AAAAWEJ4AAAAsIDwBAABYQHgCAACwwCXD07Rp0xQcHCxvb2+FhIRo+/btBbZftmyZ6tSpI29vbzVo0EBr1qxxqDfGaPTo0QoMDJSPj4/CwsJ04MCBG7kLAADgNuVy4Wnp0qWKjo7WmDFjtGvXLjVq1Ejh4eE6efJknu23bt2q7t2766mnntLu3bsVGRmpyMhI7d27195m0qRJevvttzVjxgxt27ZNJUqUUHh4uC5cuPBX7RYAALhNuFx4mjx5svr3768+ffqobt26mjFjhooXL645c+bk2X7q1Klq3769XnzxRd1111169dVXdffdd+vdd9+V9OdZpylTpujll19Wp06d1LBhQy1YsEAnTpzQypUr/8I9AwAAt4NiN3sAV8rMzNTOnTs1YsQIe5mbm5vCwsIUFxeX5zpxcXGKjo52KAsPD7cHo8TERCUnJyssLMxe7+vrq5CQEMXFxalbt265+rx48aIuXrxo/zktLU2SlJ6eft37VpDsi3/ckH5vpBt1LHDru1HzmTn31+E1RH5u1blRqlQp2Wy2IuvPpcLT6dOnlZWVJX9/f4dyf39/7du3L891kpOT82yfnJxsr88py6/N1SZMmKBx48blKq9cuXLhduRvwHfKzR4B/m6Yc7c+XkPk50bPjbS0NJUuXbrI+nOp8OQqRowY4XA2Kzs7W7/99pvKly9fpMlV+jNtV65cWUePHi3SF/bvhuNYNDiORYPjWDQ4js7jGP6pVKlSRdqfS4UnPz8/ubu7KyUlxaE8JSVFAQEBea4TEBBQYPuc/6akpCgwMNChTePGjfPs08vLS15eXg5lZcqUsbIrlpUuXfpvPbGLCsexaHAciwbHsWhwHJ3HMSxaLnXDuKenp5o2baqYmBh7WXZ2tmJiYhQaGprnOqGhoQ7tJWn9+vX29tWqVVNAQIBDm/T0dG3bti3fPgEAAPLjUmeeJCk6OlpRUVFq1qyZmjdvrilTpigjI0N9+vSRJPXq1UuVKlXShAkTJElDhgxRmzZt9NZbb6lDhw5asmSJ4uPjNXPmTEmSzWbT0KFD9dprr6lWrVqqVq2aRo0apaCgIEVGRt6s3QQAALcolwtPXbt21alTpzR69GglJyercePGWrt2rf2G7yNHjsjN7X8nzFq2bKlFixbp5Zdf1siRI1WrVi2tXLlS9evXt7cZNmyYMjIy9PTTTys1NVWtW7fW2rVr5e3t/Zfv39W8vLw0ZsyYXJcJYQ3HsWhwHIsGx7FocBydxzG8MWzGGHOzBwEAAHCrcKl7ngAAAFwd4QkAAMACwhMAAIAFhCcAAAALCE8AAAAWEJ7+AtOnT1fDhg3tT3gNDQ3Vl19+aa+/cOGCBg0apPLly6tkyZJ69NFHcz01HY4mTpxof4ZXDo5j4YwdO1Y2m81hqVOnjr2e41h4x48fV8+ePVW+fHn5+PioQYMGio+Pt9cbYzR69GgFBgbKx8dHYWFhOnDgwE0csesJDg7ONR9tNpsGDRokiflYWFlZWRo1apSqVasmHx8f1ahRQ6+++qqu/EI987EIGdxwn332mfniiy/ML7/8Yvbv329GjhxpPDw8zN69e40xxgwYMMBUrlzZxMTEmPj4eNOiRQvTsmXLmzxq17V9+3YTHBxsGjZsaIYMGWIv5zgWzpgxY0y9evVMUlKSfTl16pS9nuNYOL/99pupWrWq6d27t9m2bZv573//a9atW2cOHjxobzNx4kTj6+trVq5cafbs2WMefvhhU61aNXP+/PmbOHLXcvLkSYe5uH79eiPJbNy40RjDfCys119/3ZQvX958/vnnJjEx0SxbtsyULFnSTJ061d6G+Vh0CE83SdmyZc2sWbNMamqq8fDwMMuWLbPX/fzzz0aSiYuLu4kjdE1nz541tWrVMuvXrzdt2rSxhyeOY+GNGTPGNGrUKM86jmPhvfTSS6Z169b51mdnZ5uAgADz73//216WmppqvLy8zOLFi/+KId6ShgwZYmrUqGGys7OZjxZ06NDB9O3b16Gsc+fOpkePHsYY5mNR47LdXywrK0tLlixRRkaGQkNDtXPnTl26dElhYWH2NnXq1FGVKlUUFxd3E0fqmgYNGqQOHTo4HC9JHEeLDhw4oKCgIFWvXl09evTQkSNHJHEcrfjss8/UrFkzPfbYY6pYsaKaNGmiDz74wF6fmJio5ORkh2Pp6+urkJAQjmU+MjMztXDhQvXt21c2m435aEHLli0VExOjX375RZK0Z88ebdmyRREREZKYj0XN5f48y+3qhx9+UGhoqC5cuKCSJUtqxYoVqlu3rhISEuTp6akyZco4tPf391dycvLNGayLWrJkiXbt2qUdO3bkqktOTuY4FlJISIjmzZun2rVrKykpSePGjdM999yjvXv3chwt+O9//6vp06crOjpaI0eO1I4dO/Svf/1Lnp6eioqKsh+vnD8tlYNjmb+VK1cqNTVVvXv3lsTvtRXDhw9Xenq66tSpI3d3d2VlZen1119Xjx49JIn5WMQIT3+R2rVrKyEhQWlpaVq+fLmioqK0adOmmz2sW8bRo0c1ZMgQrV+/3iX+JuGtLOeTqCQ1bNhQISEhqlq1qj7++GP5+PjcxJHdWrKzs9WsWTONHz9ektSkSRPt3btXM2bMUFRU1E0e3a1p9uzZioiIUFBQ0M0eyi3n448/1kcffaRFixapXr16SkhI0NChQxUUFMR8vAG4bPcX8fT0VM2aNdW0aVNNmDBBjRo10tSpUxUQEKDMzEylpqY6tE9JSVFAQMDNGawL2rlzp06ePKm7775bxYoVU7FixbRp0ya9/fbbKlasmPz9/TmO16lMmTK68847dfDgQeajBYGBgapbt65D2V133WW/BJpzvK7+ZhjHMm+//vqrvv76a/Xr189exnwsvBdffFHDhw9Xt27d1KBBAz355JN67rnnNGHCBEnMx6JGeLpJsrOzdfHiRTVt2lQeHh6KiYmx1+3fv19HjhxRaGjoTRyha3nggQf0ww8/KCEhwb40a9ZMPXr0sP8/x/H6nDt3TocOHVJgYCDz0YJWrVpp//79DmW//PKLqlatKkmqVq2aAgICHI5lenq6tm3bxrHMw9y5c1WxYkV16NDBXsZ8LLw//vhDbm6O/6S7u7srOztbEvOxyN3sO9b/DoYPH242bdpkEhMTzffff2+GDx9ubDab+eqrr4wxf34Vt0qVKmbDhg0mPj7ehIaGmtDQ0Js8atd35bftjOE4Ftbzzz9vYmNjTWJiovn2229NWFiY8fPzMydPnjTGcBwLa/v27aZYsWLm9ddfNwcOHDAfffSRKV68uFm4cKG9zcSJE02ZMmXMqlWrzPfff286derEV8PzkJWVZapUqWJeeumlXHXMx8KJiooylSpVsj+q4NNPPzV+fn5m2LBh9jbMx6JDePoL9O3b11StWtV4enqaChUqmAceeMAenIwx5vz58+af//ynKVu2rClevLh55JFHTFJS0k0c8a3h6vDEcSycrl27msDAQOPp6WkqVapkunbt6vBsIo5j4a1evdrUr1/feHl5mTp16piZM2c61GdnZ5tRo0YZf39/4+XlZR544AGzf//+mzRa17Vu3TojKc9jw3wsnPT0dDNkyBBTpUoV4+3tbapXr27+7//+z1y8eNHehvlYdGzGXPH4UQAAABSIe54AAAAsIDwBAABYQHgCAACwgPAEAABgAeEJAADAAsITAACABYQnAAAACwhPAAAAFhCeAAAALCA8AQAAWEB4AgAAsOD/A3g/oFFDPkZuAAAAAElFTkSuQmC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sp>
        <p:nvSpPr>
          <p:cNvPr id="6" name="AutoShape 4" descr="data:image/png;base64,iVBORw0KGgoAAAANSUhEUgAAAk8AAAG0CAYAAAAresMpAAAAOnRFWHRTb2Z0d2FyZQBNYXRwbG90bGliIHZlcnNpb24zLjEwLjAsIGh0dHBzOi8vbWF0cGxvdGxpYi5vcmcvlHJYcgAAAAlwSFlzAAAPYQAAD2EBqD+naQAATLVJREFUeJzt3Xt8j/Xj//Hne7OT0xzGDsKcImfxMUNJTbP8ZEkhMkTxoQ+tEr45dUA+5UMlknNyiEJKpDGShWFKRfhMTtscahsLY3v9/ui298fbDnZ5T970uN9u1632er2u1/W6rvdrb8/3dV3vazZjjBEAAAAKxe1mDwAAAOBWQngCAACwgPAEAABgAeEJAADAAsITAACABYQnAAAACwhPAAAAFhCeAAAALCA8AQAAWEB4AgAAdj/88IP8/f11/vx5e9nQoUPVpUuXmzgq10J4ukJ8fLz69Omj6tWry8fHR6VLl1aDBg304osv6vjx4zd7eAAA3HC1a9eWp6enWrVqpeHDh+uJJ57QO++8owceeOBmD81l2PjbdpIxRsOHD9ekSZNUrFgxtWvXTg0aNFBmZqa2bt2q7du3q3jx4po/fz7JGwBw29u5c6eGDBmihIQElSlTRk8++aRee+01ubu73+yhuQTCk6RXXnlFY8aMUXBwsD7//HPVq1fPof6TTz5Rz549denSJa1fv15t27a9SSMFAAA3nfmbS0xMNMWKFTMeHh7m+++/z7fd9OnTjSRTu3Ztk5WVZS+fO3eukXTNJceYMWMK1T6vdTZu3JhrXA899JCRZKpWrepQfuW43nvvvTz3qXXr1rm2ZYwxFy9eNO+8846JiIgwVapUMZ6enqZs2bLmgQceMGvWrCnocBa4P3PnzrW3S0xMNJJMVFRUgf3l2Lhxo5FkxowZk2d9VFSUkWQSExNz1S1dutTcc889pnTp0sbb29vUr1/fjB8/3ly4cCHPvo4ePWoGDRpkqlWrZjw9PU25cuVMx44dzfbt2ws1VmPy379z586Ze+65x0gy06ZNy7Xe119/bcLDw03ZsmWNp6enqVWrlnnppZdMampqvtuqWrVqvsf86uMlybRp0yZXH999952x2Wy5XqeCjntB8/Lnn382UVFR5o477jAeHh6mYsWKpnv37mbfvn157kNGRoaZOHGiadq0qSlZsqQpUaKEqVOnjnn22WdNcnLyNffzyuXKY371Oh4eHqZKlSqmR48e5scff8xzLNfzGuRnyZIl5v777zdly5Y1Xl5epmrVqqZbt25mx44d9japqalm0qRJpm3btqZSpUrGw8PD+Pn5mY4dO5qtW7fm2W/O/jRv3jzP+lmzZuX5e5cjPj7edO7c2VSoUMF4enqaKlWqmIEDB5oTJ07kapvf79Ynn3xiihUrZurVq2dOnjxpLz9+/LgZN26cadmypfH39zceHh4mMDDQdO/ePdcxL+z759Xbv3DhgpkwYYKpX7++8fHxMaVKlTKtW7c2S5cuzTX+nN/FK5fixYubO++80wwbNsycOXMmz2OYl8LMwbx+V3755Rfz5JNPmqCgIPvxePLJJ80vv/xS6G1f+Z7y888/m06dOpmyZcua4sWLm1atWpl169blWud655aV94gcRTGnChqDlXl15fGSZB5//PE8t/Pyyy/b2+T1PlaQYteOV7e3uXPn6vLly3r88cfVoEGDfNv169dPr7zyivbv369NmzblOvvUqVMnNW7cONd68+bN06+//mr/+b777nOoT01N1dSpU9WoUSNFRkZaGvuKFSu0Zs2aAtu4u7tr2rRpGjhwoEN5QkKCtmzZInd3d2VlZTnU/fbbbxoyZIhatmypdu3aqUKFCkpKStLq1av10EMP6YMPPlC/fv3y3WbVqlXVu3dvh22tWrXK0r4VlZEjR2rChAny8/PTE088oZIlS+rLL7/UyJEjtW7dOn311Vfy9PS0t9+1a5cefPBB/fbbbwoPD1fnzp11+vRprVy5Uq1bt9aKFSv00EMPXddYzp8/r44dO+qbb77R22+/rX/+858O9e+//74GDhyoEiVK6LHHHlPFihUVGxurN954Q6tXr9a3336rMmXK5Nm3r6+vhg4dav/58OHDmj9/fqHGlZWVpYEDB8oU0UnotWvXqnPnzrp06ZI6duyomjVr6tixY/r000/1xRdfaOPGjbr77rvt7X///Xe1bdtWe/bsUe3atdW3b195enrq0KFDmjt3rjp37ix/f38NHTpUqamp9vViY2O1adMmRUVFKTg42F5+9e/hlcfm4sWLSkhI0EcffaTPP/9cv/zyiypWrGhv68xrcCVjjPr06aP58+fLz89PnTt3VoUKFXTs2DFt3LhRtWvXVrNmzSRJP//8s/7v//5P9957rzp06KCyZcvqyJEj+uyzz/Tll19q9erVat++fa5tuLu7a/v27YqPj7f3leOdd97J83dbkj7//HM9+uijMsaoS5cuqlq1qnbu3Knp06dr1apV2rJli6pVq1bg/q1evVrdunVTrVq1tGHDBlWoUMFet3nzZk2cOFFt27bVo48+qpIlS+rAgQNavny5PvvsM3377bdq1KiRpD9fqzFjxjj0PW7cuFzvIZLsxz0zM1Ph4eHatGmT6tSpo0GDBumPP/7Q8uXL1bVrVyUkJGj8+PG5xnzle+y5c+f09ddfa9KkSdq8ebPi4uIK3N8rXf27liO/37kdO3YoLCxMZ8+e1cMPP6y6detq3759WrhwoVatWqWvv/5a//jHPwq9/cTERIWGhqpBgwZ65plnlJSUpKVLlyoiIkKLFi1S165d7W2vd25d7VrvEUUxp67Fyry6kru7u1asWKGkpCQFBgbayzMzMzVz5sx8f0+uyVLUug3df//9RpKZOXPmNds+8cQTRpJ59dVX7WU5n5zySuLGGNOmTZtcZ3auVJgzMHl9ws/IyDBVqlQxVapUMf7+/vmeeercubORZDZs2OBQ37dvXxMYGGhatmyZa3wXLlwwR48ezTWO1NRUU69ePVO2bFnzxx9/5Kq/dOmSkWTuu+++PMfyV5952rp1q5FkKleubJKSkhzG+f/+3/8zkszrr7/uUF6jRg3j5eVlYmNjHfo/fvy4CQoKMgEBAfmesbrS1ft3/vx5065dOyPJTJ48OVf7w4cPG09PT1OqVCnz888/O9QNHDjQSDL9+/fPc1uVKlUywcHBDmX5HS/l8YnunXfeMZLMP/7xj1yvU2xsrJFkRo8enWu7ec3L3377zZQpU8aUL18+16fBH374wZQoUcI0adLEobx79+5GkhkwYIDDWV1jjDl79my+Z3wKOvOVo2rVqrl+N4wxJjo62khyOFPhzGtwtffff99+TK8e/+XLlx0+jaempppTp07l6uPo0aMmMDDQ1KlTJ1edJNOyZUsTEBBgevXq5VC3efNmI8k8+uijuV7Ps2fPmnLlyhk3NzezefNmh/UmTpxoJJl27do5lF/9u7VmzRrj6elpateu7fB7lSMlJcWkp6fnKk9ISDAlSpQw7du3z1V39b7ldeYjx/jx440kExERYS5duuSw3ZwzQ99++629PL/3msuXL5vmzZsbSSYlJaXAMeXIbz4Zk/fvXHZ2tqlTp46RZBYuXOjQfsmSJUbKfTUjP1eeSXnhhRcc6nbs2GGKFStmypQpY9LS0uzl1zu3rLxHFMWcKswYrM6rnOP10EMPGS8vr1zvYQsWLHD4N9Lqmae//bftkpKSJEmVK1e+ZtucNidOnLihYyqMV199VUeOHNGUKVPk7e2db7sOHTqoWrVqevfdd+1lZ86c0aJFi/T000/Lw8Mj1zpeXl664447cpX7+vqqb9+++v3337Vjx45c9ZcuXbKv7wrmzJkjSXr55ZcVEBBgLy9WrJjeeustubm5adasWfbyL774QocOHdKzzz6rNm3aOPQVFBSkYcOGKTk5WTExMZbGkZmZqc6dO2v9+vWaNGmSnnvuuVxtFi5cqMzMTA0ePFh16tRxqHv99ddVqlQpffjhh7p48WKudS9dunTdxzwlJUUvv/yymjRpomeeeSZXfc5ZmSvPnhZkwYIFSk1N1bhx41S3bl2Huvr166t///7avXu3fvrpJ0nSyZMntXTpUgUGBurNN9+Um5vjW1LJkiXl6+t7PbtWoMuXL0uSw7xw5jW42jvvvCPpzzNZV4/f3d3d4ROwr6+v/Pz8cvVxxx13qEuXLtq3b5+OHDmSq97Dw0PPPPOMli5dqtOnTztsu3r16nmeIV21apV+++03de3aVffcc49D3fPPP6/g4GCtX78+z+1J0vr169W5c2dVrVpVGzZscDh+OSpWrKhSpUrlKm/UqJHuv/9+bdy40f5ecT3mzJkjm82myZMnq1ix/108qVixokaNGiVJDr/X+THG6PLly/L29r4hc0yStm7dqn379ik0NFQ9evRwqOvatatat26t/fv3a8uWLYXu09fXV6NHj3Yoa9asmXr06KHU1FStWLHCoe31zK0rXes9wtk5VVjXO68qVKigbt26aebMmQ7177zzjtq0aVPgFaeC/O0v292K9u3bp7feeksRERF65JFH8vzHOIebm5sGDRqkl156SceOHdMdd9yhWbNmKSsrS88884xiY2PzXO/HH3/Uv//9b23evFlJSUm6cOGCQ31ej25IT0+XpALD3NUSEhI0duxY+3pBQUFq2bKlatasmWf72NhYe/ur+7narl27JEn3339/rro777xTd9xxhxITE5WWliZfX1/7qftff/01z20cOHBA0p+nwgt76e7SpUvq0qWLvvzySwUEBGjQoEF5titorGXLllWTJk20efNm7du3L9ep6fT0dId/jK144YUXlJ6ervfee0/79u3LVV+jRg1VqFBBy5YtU7du3XT//fc7XOa8Ws4x3LNnT57H8JdffpH05zGsW7euduzYoezsbN17770qUaLEde3DtaSmptrHkpmZqZ07dyomJka9e/fWvffea2/nzGtwpYyMDO3du1f+/v5q0qRJocb47bffaurUqYqLi9PJkyeVmZnpUH/8+HFVqVIl13rPPPOMxo8frw8++EAjRozQ8ePHtWLFCk2cODFXEL3WPhYrVkz33nuvDh8+rN27d+fa3saNGzVo0CBduHBBAwYMUFBQUL7788UXX2jGjBmKj4/X6dOn7WE1x+nTp69rzp49e1YHDx5UpUqVcgXcK/dr9+7duequfK85e/as1q9fr0OHDuk///nPDfvAV9DxzinfsmWLdu/e7TAXC3L33XfnGSLuu+8+zZ8/X7t371ZUVJS9/HrnVo5rvUc4M6emTJlSqMvgOa53Xj377LOaP3++li9fru7du2vbtm3asWOHli9frh9++KHQ23fYt+ta6zYSEBCgn3/+WUePHr1m25w2Bb1p/BUGDRokd3d3+6fba+nbt69Gjx6t6dOn65VXXtF7772nRx99NN83r++++07333+/Ll++rAceeEAPP/ywSpcuLTc3N/v9S3l9+s759HvlPSTXsmfPHu3Zs8ehzGaz6YknntC8efMcPllK0qZNm7Rp06ZC9Z2WliZJ+e5nYGCgjhw5otTUVPn6+urMmTOSpGXLlhXY77lz5wq1fUlaunSpsrKy1KZNG23atEnPP/+8pk+ffl1jleRwz4/05z/UFy5csHTMc2zatEkLFy5Uv3791KJFizzfGD09PfX++++rZ8+eioiIuGafOcfwgw8+KLBdzjHM2Z9KlSpZHH3hpaWlady4cQ5lwcHBue4Tut7X4GpW92nFihXq0qWLvL291a5dO9WoUUMlSpSQm5ub/b6u/M52BQYGqkuXLpoxY4aGDRum6dOny9PTU3379s3zPkNn9rF///664447ZLPZNGbMGHXq1Ek1atTI1W7q1KkaOnSoypYtq3bt2qlKlSoqXry4bDabVq5cqT179hTq7F1enBl/Xu81ISEhee5DUSmqOXUlf3//PMtzzgLmbFNybm5JhXuPcGYfp06dmu+282p7vfOqadOmCg0N1bvvvqvu3bvrnXfe0R133KHIyEjC0/Vq3bq1Nm7cqK+//lr9+/fPt11WVpb9LE2rVq3+otHltnjxYm3YsEFjxowp9C992bJl1bNnT82aNUsNGjTQkSNHtGjRonzbv/baazp//rw2btyY6wb3CRMm5Hvz98GDByXJ0o2BUVFRmjdvniTpwoULSkhI0NNPP62PPvpI9957r55++mmH9mPGjMnzjEbv3r1z3ayZcyo+OTk5z2OVc8k2p13Of1etWqWHH3640PtQkKysLI0YMUKvv/66IiIiNGPGDHXs2DHXmasrx3r1ozLyGmuO6znm0p+XrQYNGqTy5ctr4sSJBbZ95JFHtG/fPn311Vc6duyY/abRnDffvPZjz549atiw4TXHkfOp80Y+hLZq1ao6fPiwpD/3+/Dhwxo9erQGDx6sjIwMDRs2TNL1vwZXs7pPo0aNkqenp+Lj43XXXXc51D3zzDPX/LDw7LPPavHixVq2bJlmzpypJ554QmXLls2z7ZX7mJeC9jEwMFAbNmzQiRMn1KZNGz355JP65ptvHJ77c/nyZY0dO1YBAQHatWtXrn9QrdyYXdTjv/q95vvvv9czzzyj9u3b69tvv1WLFi2cGltRjzc/KSkpeZbnbOPKvpyZW4V9j3BmHxMTEx2+7JHDZrPlGouz8+rZZ5/VE088obVr12rZsmUaPXq0U8+s+tvf89S7d2/73fg//vhjvu3mzJmjEydOqHbt2rnuh/mrpKen6/nnn1f16tU1fPhwS+sOHjxYJ0+e1IABA9SkSZMCA+DBgwdVrly5XMFJUoG/bDkT+OpP9IXl7e2tFi1a2MPR9u3br6ufHDmXTPK6NHnw4EEdO3ZM1apVs/9jl/Pm+c033zi13StFRERo/Pjxstlsmjt3rsqXL6++ffvq1KlThR5ramqqEhIS5O3tnesN8HqP+ZQpU/Tjjz9qwoQJKl++/DXbV65cWU899ZQ9vI4dOzbP+WH1GDZv3lxubm7avHmzMjIyLO3D9ShWrJhq1qypadOmSZI++ugje931vgZXK1GihOrXr6+UlJQ8Lx9d7eDBg6pbt26ufrOzswt1L0xoaKiaNm2qAQMG6NSpU3r22WfzbVvQPl6+fNn+ul35bcgcn3zyiapXr67WrVvrpZdeUlxcXK5vtZ0+fVqpqalq2bJlrn/gzp07Z7/Ec71KlSqlGjVq6Pjx4/bL6FfauHFjvuO/kre3t5o3b67Ro0crOztbixcvdmpc+SnoeEuFH++Vdu3apbNnz+Yqz9nGlZeKnZlbhX2PcGZOFVZRzKsuXbooMDBQ3bp1k81my/XB3Kq/fXiqXr26Ro4cqUuXLunhhx+238h6pZUrV2rIkCFyd3fX9OnT87yX4K/wyiuvKCkpSe+8846l+4okqUGDBoqMjFTJkiUVHR1dYNvg4GD99ttv+v777x3KZ8+erXXr1uW5zq+//qo5c+aoQoUKef6jakXOm2J+n54Lq2/fvpL+PJN2ZVjJysrSCy+8oOzsbD311FP28pzLENOmTcv3ERBxcXH6448/Cj2GKy+nBQYG6v3331dKSkqus5w9e/aUh4eH3nnnHfvZpByjRo1Senq6evbs6XBvxm+//aapU6fK09PT0pmypKQkjRs3TiEhIQU+cuJ69OnTR2XKlNG4cePyDL/Z2dkOb7I5N3MmJSXZX5MrnTt3zuEyRFHJuXxz5Sfc63kN8vOvf/1L0p+f7q8ef3Z2tv3TuPTn79uBAwccvohijNHYsWPzfD/Ky/PPP6+SJUuqY8eOBZ7xi4yMVLly5bR48WJ99913DnVTpkxRYmKiwsLC8rwH5sq5PG7cODVp0kSvvPKKw5dHKlasqOLFi2vnzp0Ol7cvXbqkIUOGONzYfr369u0rY4xefPFFh6+Ynz59Wq+++qq9TWHkNQ+KUqtWrVS7dm1t2bJFy5cvd6hbvny5vvnmG915551q3bp1oftMS0vTK6+84lAWHx+vjz76SL6+vnrkkUfs5dc7t6y8RzgzpwqrKOaVh4eHhg4dqpIlS+qpp55yeLzG9fjbX7aTpLFjxyojI0OTJ09Wo0aNFB4ernr16unSpUvaunWrtm3bJh8fHy1evPimPl18586dioyMvO7nDF35LYyCDB06VOvWrVPr1q31+OOPy9fXV/Hx8dqyZYu6dOmS602gT58+Wr58uc6fP6/Fixfn+Q2+/Ozfv18zZsyQ9L/LdosWLZK3t7fDTY/Xo2XLlho2bJgmTZqk+vXrq0uXLipRooS+/PJL7d27V61bt9aLL75ob+/h4aFPP/1U4eHh6tChg1q2bKnGjRurePHiOnr0qHbs2KH//ve/SkpKUvHixa9rTI8++qiioqI0f/58zZ492x7egoODNWXKFA0aNEh33323Hn/8cVWoUEGbNm1SXFyc6tSpozfeeMPez4gRIzRr1iydPn1akydPzvc+iLz88ssvcnNz03vvvVfk/2iUL19ey5cv1yOPPKIWLVrogQceUL169WSz2XT06FHFxcXpzJkzDl9AePfdd7V3717NmDFDsbGxCg8Pl6enpxITE7Vu3Tp99tlnTgXyK28Yz8rK0uHDh/Xpp59KkgYMGGBvZ/U1KEi/fv30zTff6MMPP1StWrXUqVMnVahQQSdOnNCGDRvUt29f+5iee+45+xnhRx99VB4eHvr222/1008/qWPHjlq9evU1t9e9e3d17979mu1KliypOXPm6LHHHlObNm302GOPqUqVKtq5c6e++uorBQQE6P33379mPx4eHvroo4/UtGlT9ezZU7t371bx4sXl5uamf/3rX5o4caIaNGigTp06KTMzUxs3btRvv/2mtm3b2s+2XK8XXnhBX375pVatWqVGjRrpoYce0h9//KFly5bp5MmTGjZsWJ5h5MobxnMu261du1ZeXl65nilVVGw2m+bPn6927dqpa9eu6tSpk+rUqaP9+/dr5cqVKlWqlBYsWGDpA/m9996rWbNmadu2bWrVqpX9OU/Z2dl6//33Vbp0aXvb651bVt4jimpOFaSo5tWwYcPsl+mdZunBBre5bdu2mV69epng4GDj7e1tSpQoYerVq2eef/75PJ97ZMxf+5yn4sWLm8OHD+eqz+vZI9ca17XGt3r1ahMSEmJKlixpfH19Tbt27cymTZvy7Nff3988+uij+T6xtqDnPF25eHp6muDgYPPEE0+YhIQEhz6cecL44sWLTatWrUzJkiWNl5eXqVu3rnnttdfM+fPn8+wrJSXFvPTSS6ZevXrGx8fHlChRwtSsWdM8+uij5sMPP3R4tkx+Cnpd09LSTHBwsClZsqQ5ePCgQ926detMu3btTJkyZYynp6epUaOGefHFF83vv//u0K5Jkyamffv2+T7xvaDnPEky//znP3OtU9g5k6Og5ywlJiaaQYMGmZo1axovLy9TqlQpU7t2bdOzZ0+zYsWKXO3PnTtnXnvtNdOgQQPj4+NjSpYsae666y4zZMiQfJ/BU9jnPF05x9zc3ExgYKAJCwszq1atynOdwr4GhbFw4UJz7733mtKlSxsvLy/7/N65c6dDu7lz55pGjRqZ4sWLm/Lly5vIyEjz/fff57uPusazkHL6zO/13L59u4mMjDR+fn7Gw8PDVK5c2QwYMMAcP348V9uCfrfefvttI8kMHDjQXnbp0iXz1ltvmbvuust4e3sbf39/07NnT3P48OFrPt+nsPt2/vx58/rrr5t69eoZb29vU7JkSdOqVSuzaNGiXG2tvtcUxOpznnLs27fP9OzZ0wQEBJhixYqZgIAA06NHj3yfuJ+XK99TfvrpJ/Pwww+bMmXKGB8fH9OyZUuzdu3aPNe7nrl1Pe8RRTWncsZw9RywOq8K+yzBwryP5IW/bQcAgIs7fPiwqlWr5nDjO26ev/09TwAAAFYQngAAACwgPAEAAFjAPU8AAAAWcOYJAADAAsITAACABYSnQjDGKD09XVzhBAAAhKdCOHv2rHx9ffP8e0IAAODvhfAEAABgAeEJAADAAsITAACABYQnAAAACwhPAAAAFhCeAAAALCA8AQAAWEB4AgAAsIDwBAAAYAHhCQAAwALCEwAAgAWEJwAAAAtcKjxNmDBB//jHP1SqVClVrFhRkZGR2r9//zXXW7ZsmerUqSNvb281aNBAa9ascag3xmj06NEKDAyUj4+PwsLCdODAgRu1GwAA4DbmUuFp06ZNGjRokL777jutX79ely5d0oMPPqiMjIx819m6dau6d++up556Srt371ZkZKQiIyO1d+9ee5tJkybp7bff1owZM7Rt2zaVKFFC4eHhunDhwl+xWwAA4DZiM8aYmz2I/Jw6dUoVK1bUpk2bdO+99+bZpmvXrsrIyNDnn39uL2vRooUaN26sGTNmyBijoKAgPf/883rhhRckSWlpafL399e8efPUrVu3a44jPT1dvr6+SktLU+nSpYtm5wAAwC3Jpc48XS0tLU2SVK5cuXzbxMXFKSwszKEsPDxccXFxkqTExEQlJyc7tPH19VVISIi9zdUuXryo9PR0hwUAAECSit3sAeQnOztbQ4cOVatWrVS/fv182yUnJ8vf39+hzN/fX8nJyfb6nLL82lxtwoQJGjdunDPDB/62god/cUP6PTyxww3pFwCsctkzT4MGDdLevXu1ZMmSv3zbI0aMUFpamn05evToXz4GAADgmlzyzNPgwYP1+eefa/PmzbrjjjsKbBsQEKCUlBSHspSUFAUEBNjrc8oCAwMd2jRu3DjPPr28vOTl5eXEHgAAgNuVS515MsZo8ODBWrFihTZs2KBq1apdc53Q0FDFxMQ4lK1fv16hoaGSpGrVqikgIMChTXp6urZt22ZvAwAAUFgudeZp0KBBWrRokVatWqVSpUrZ70ny9fWVj4+PJKlXr16qVKmSJkyYIEkaMmSI2rRpo7feeksdOnTQkiVLFB8fr5kzZ0qSbDabhg4dqtdee021atVStWrVNGrUKAUFBSkyMvKm7CcAALh1uVR4mj59uiTpvvvucyifO3euevfuLUk6cuSI3Nz+d8KsZcuWWrRokV5++WWNHDlStWrV0sqVKx1uMh82bJgyMjL09NNPKzU1Va1bt9batWvl7e19w/cJAADcXlz6OU+uguc8AYXHt+0A3O5c6p4nAAAAV0d4AgAAsIDwBAAAYAHhCQAAwALCEwAAgAWEJwAAAAsITwAAABYQngAAACwgPAEAAFhAeAIAALCA8AQAAGAB4QkAAMACwhMAAIAFhCcAAAALCE8AAAAWEJ4AAAAsIDwBAABYQHgCAACwgPAEAABgAeEJAADAAsITAACABYQnAAAACwhPAAAAFhCeAAAALCA8AQAAWEB4AgAAsIDwBAAAYAHhCQAAwALCEwAAgAWEJwAAAAsITwAAABYQngAAACwgPAEAAFjgUuFp8+bN6tixo4KCgmSz2bRy5coC2/fu3Vs2my3XUq9ePXubsWPH5qqvU6fODd4TAABwu3Kp8JSRkaFGjRpp2rRphWo/depUJSUl2ZejR4+qXLlyeuyxxxza1atXz6Hdli1bbsTwAQDA30Cxmz2AK0VERCgiIqLQ7X19feXr62v/eeXKlfr999/Vp08fh3bFihVTQEBAkY0TAAD8fbnUmSdnzZ49W2FhYapatapD+YEDBxQUFKTq1aurR48eOnLkSIH9XLx4Uenp6Q4LAACAdBuFpxMnTujLL79Uv379HMpDQkI0b948rV27VtOnT1diYqLuuecenT17Nt++JkyYYD+r5evrq8qVK9/o4QMAgFvEbROe5s+frzJlyigyMtKhPCIiQo899pgaNmyo8PBwrVmzRqmpqfr444/z7WvEiBFKS0uzL0ePHr3BowcAALcKl7rn6XoZYzRnzhw9+eST8vT0LLBtmTJldOedd+rgwYP5tvHy8pKXl1dRDxMAANwGboszT5s2bdLBgwf11FNPXbPtuXPndOjQIQUGBv4FIwMAALcblwpP586dU0JCghISEiRJiYmJSkhIsN/gPWLECPXq1SvXerNnz1ZISIjq16+fq+6FF17Qpk2bdPjwYW3dulWPPPKI3N3d1b179xu6LwAA4PbkUpft4uPj1bZtW/vP0dHRkqSoqCjNmzdPSUlJub4pl5aWpk8++URTp07Ns89jx46pe/fuOnPmjCpUqKDWrVvru+++U4UKFW7cjgAAgNuWzRhjbvYgXF16erp8fX2Vlpam0qVL3+zhAC4tePgXN6TfwxM73JB+AcAql7psBwAA4OoITwAAABYQngAAACwgPAEAAFhAeAIAALCA8AQAAGAB4QkAAMACwhMAAIAFhCcAAAALCE8AAAAWEJ4AAAAsIDwBAABYQHgCAACwgPAEAABgAeEJAADAAsITAACABYQnAAAACwhPAAAAFhCeAAAALCA8AQAAWEB4AgAAsIDwBAAAYAHhCQAAwALCEwAAgAWEJwAAAAsITwAAABYQngAAACwgPAEAAFhAeAIAALCA8AQAAGAB4QkAAMACwhMAAIAFhCcAAAALXCo8bd68WR07dlRQUJBsNptWrlxZYPvY2FjZbLZcS3JyskO7adOmKTg4WN7e3goJCdH27dtv4F4AAIDbmUuFp4yMDDVq1EjTpk2ztN7+/fuVlJRkXypWrGivW7p0qaKjozVmzBjt2rVLjRo1Unh4uE6ePFnUwwcAAH8DxW72AK4UERGhiIgIy+tVrFhRZcqUybNu8uTJ6t+/v/r06SNJmjFjhr744gvNmTNHw4cPd2a4AADgb8ilzjxdr8aNGyswMFDt2rXTt99+ay/PzMzUzp07FRYWZi9zc3NTWFiY4uLi8u3v4sWLSk9Pd1gAAACkWzw8BQYGasaMGfrkk0/0ySefqHLlyrrvvvu0a9cuSdLp06eVlZUlf39/h/X8/f1z3Rd1pQkTJsjX19e+VK5c+YbuBwAAuHW41GU7q2rXrq3atWvbf27ZsqUOHTqk//znP/rwww+vu98RI0YoOjra/nN6ejoBCgAASLrFw1Nemjdvri1btkiS/Pz85O7urpSUFIc2KSkpCggIyLcPLy8veXl53dBxAgCAW9MtfdkuLwkJCQoMDJQkeXp6qmnTpoqJibHXZ2dnKyYmRqGhoTdriAAA4BbmUmeezp07p4MHD9p/TkxMVEJCgsqVK6cqVapoxIgROn78uBYsWCBJmjJliqpVq6Z69erpwoULmjVrljZs2KCvvvrK3kd0dLSioqLUrFkzNW/eXFOmTFFGRob923cAAABWuFR4io+PV9u2be0/59x3FBUVpXnz5ikpKUlHjhyx12dmZur555/X8ePHVbx4cTVs2FBff/21Qx9du3bVqVOnNHr0aCUnJ6tx48Zau3ZtrpvIAQAACsNmjDE3exCuLj09Xb6+vkpLS1Pp0qVv9nAAlxY8/Isb0u/hiR1uSL8AYNVtd88TAADAjUR4AgAAsIDwBAAAYAHhCQAAwALCEwAAgAWEJwAAAAsITwAAABYQngAAACwgPAEAAFhAeAIAALCA8AQAAGAB4QkAAMACwhMAAIAFhCcAAAALCE8AAAAWEJ4AAAAsIDwBAABYQHgCAACwgPAEAABgAeEJAADAAsITAACABYQnAAAACwhPAAAAFhCeAAAALCA8AQAAWEB4AgAAsIDwBAAAYAHhCQAAwALCEwAAgAWEJwAAAAsITwAAABYQngAAACwgPAEAAFjgVHhKSkoqqnFIkjZv3qyOHTsqKChINptNK1euLLD9p59+qnbt2qlChQoqXbq0QkNDtW7dOoc2Y8eOlc1mc1jq1KlTpOMGAAB/H06Fp8qVK+vBBx/Uhx9+qIyMDKcHk5GRoUaNGmnatGmFar9582a1a9dOa9as0c6dO9W2bVt17NhRu3fvdmhXr149JSUl2ZctW7Y4PVYAAPD3VMyZlV955RUtWrRIUVFRGjhwoCIjI9WzZ089+OCDcnOznssiIiIUERFR6PZTpkxx+Hn8+PFatWqVVq9erSZNmtjLixUrpoCAAMvjAQAAuJpTZ55GjhypvXv3aufOnRowYIBiY2P10EMPKSgoSM8995zi4+OLapyFkp2drbNnz6pcuXIO5QcOHFBQUJCqV6+uHj166MiRIwX2c/HiRaWnpzssAAAAUhHdMN6kSRO9+eabOnr0qNavX68OHTpo7ty5CgkJUd26dTV+/PhrBpai8Oabb+rcuXN6/PHH7WUhISGaN2+e1q5dq+nTpysxMVH33HOPzp49m28/EyZMkK+vr32pXLnyDR87AAC4NRTpt+1sNpvuuecePfTQQ2rRooWMMTpw4IDGjh2r6tWr67HHHivym8xzLFq0SOPGjdPHH3+sihUr2ssjIiL02GOPqWHDhgoPD9eaNWuUmpqqjz/+ON++RowYobS0NPty9OjRGzJmAABw6ymy8LRx40b169dP/v7+evzxx5WcnKw333xTx44dU1JSkiZOnKiYmBg9+eSTRbVJuyVLlqhfv376+OOPFRYWVmDbMmXK6M4779TBgwfzbePl5aXSpUs7LAAAAJKTN4zv2bNHH330kRYvXqwTJ04oICBA/fr1U69evdSgQQOHti+88IK8vb31wgsvODXgqy1evFh9+/bVkiVL1KFDh2u2P3funA4dOnRDQhwAALj9ORWemjRpIh8fH0VGRqpXr15q165dgd+yq1evnkJDQ/OtP3funMMZocTERCUkJKhcuXKqUqWKRowYoePHj2vBggWSZP+m39SpUxUSEqLk5GRJko+Pj3x9fSX9Gdo6duyoqlWr6sSJExozZozc3d3VvXt3Z3YdAAD8TTkVnubMmaMuXbqoZMmShWrftm1btW3bNt/6+Ph4h/ro6GhJUlRUlObNm6ekpCSHG89nzpypy5cva9CgQRo0aJC9PKe9JB07dkzdu3fXmTNnVKFCBbVu3VrfffedKlSoYGVXAQAAJEk2Y4y52YNwdenp6fL19VVaWhr3PwHXEDz8ixvS7+GJ174sDwB/BaduGH/77bcVHh6eb31ERISmT5/uzCYAAABcilPhafbs2apbt26+9XXr1tXMmTOd2QQAAIBLcSo8HTp0SHfddVe+9XXq1NGhQ4ec2QQAAIBLcSo8eXp62r/hlpekpKTr+ht3AAAArsqpZNOiRQvNmzcvzz91kpaWprlz56pFixbObAIAAMClOPWogjFjxqhNmzZq3Lixhg4dqnr16kmS9u7dqylTpigpKUmLFi0qkoECAAC4AqfCU0hIiFavXq1nnnlGQ4YMkc1mkyQZY1StWjV99tlnBT4UEwAA4FbjVHiSpHbt2ungwYPavXu3/ebwGjVq6O6777aHKQAAgNuF0+FJktzc3NS0aVM1bdq0KLoDAABwWUUSnn766Sf997//1e+//668Hljeq1evotgMAADATedUeDp06JB69uyp7du35xmaJMlmsxGeAADAbcOp8PTMM8/ohx9+0JQpU3TPPfeobNmyRTUuAAAAl+RUePr22281cuRIPfvss0U1HgAAAJfm1EMy/fz85OvrW1RjAQAAcHlOhacBAwZo4cKFysrKKqrxAAAAuDSnLtvdeeedysrKUqNGjdS3b19VrlxZ7u7uudp17tzZmc0AAAC4DKfCU9euXe3//8ILL+TZxmazcWYKAADcNpwKTxs3biyqcQAAANwSnApPbdq0KapxAAAA3BKK5AnjFy9e1K5du3Ty5Em1atVKfn5+RdEtAACAy3Hq23aS9PbbbyswMFCtW7dW586d9f3330uSTp8+LT8/P82ZM8fpQQIAALgKp8LT3LlzNXToULVv316zZ892+BMtfn5+uv/++7VkyRKnBwkAAOAqnApPb731ljp16qRFixapY8eOueqbNm2qH3/80ZlNAAAAuBSnwtPBgwcVERGRb325cuV05swZZzYBAADgUpwKT2XKlNHp06fzrf/pp58UEBDgzCYAAABcilPh6aGHHtLMmTOVmpqaq+7HH3/UBx98oIcfftiZTQAAALgUp8LTa6+9pqysLNWvX18vv/yybDab5s+fr549e6pZs2aqWLGiRo8eXVRjBQAAuOmcCk9BQUHauXOn2rdvr6VLl8oYow8//FCrV69W9+7d9d133/HMJwAAcFuxmSufL+CkU6dOKTs7WxUqVJCbm9OPkHIZ6enp8vX1VVpamkqXLn2zhwO4tODhX9yQfg9P7HBD+gUAq4rkCeM5KlSoUJTdAQAAuBynwtMrr7xyzTY2m02jRo1yZjMAAAAuw6nLdgVdmrPZbDLGyGazKSsr63o34RK4bAcUHpftANzunLoxKTs7O9dy+fJlHTp0SM8995yaNWumkydPFtVYAQAAbroiv6vbzc1N1apV05tvvqlatWrp2WefLfS6mzdvVseOHRUUFCSbzaaVK1dec53Y2Fjdfffd8vLyUs2aNTVv3rxcbaZNm6bg4GB5e3srJCRE27dvt7BHAAAA/3NDvxJ37733as2aNYVun5GRoUaNGmnatGmFap+YmKgOHTqobdu2SkhI0NChQ9WvXz+tW7fO3mbp0qWKjo7WmDFjtGvXLjVq1Ejh4eGcEQMAANelSL9td7X4+HhLjyyIiIgo8G/lXW3GjBmqVq2a3nrrLUnSXXfdpS1btug///mPwsPDJUmTJ09W//791adPH/s6X3zxhebMmaPhw4db2BsAAAAnw9OCBQvyLE9NTdXmzZv16aefql+/fs5sokBxcXEKCwtzKAsPD9fQoUMlSZmZmdq5c6dGjBhhr3dzc1NYWJji4uLy7ffixYu6ePGi/ef09PSiHTgAALhlORWeevfunW+dn5+fhg8ffkP/PEtycrL8/f0dyvz9/ZWenq7z58/r999/V1ZWVp5t9u3bl2+/EyZM0Lhx427ImPNyo76ddCPxzSfg9sU3JpEf5safnApPiYmJucpsNpvKli2rUqVKOdP1TTVixAhFR0fbf05PT1flypVv4ogAAICrcCo8Va1atajGcV0CAgKUkpLiUJaSkqLSpUvLx8dH7u7ucnd3z7NNQEBAvv16eXnJy8vrhowZAADc2m7pP0AXGhqqmJgYh7L169crNDRUkuTp6ammTZs6tMnOzlZMTIy9DQAAgBVOnXlyc3OTzWaztI7NZtPly5fzrDt37pwOHjxo/zkxMVEJCQkqV66cqlSpohEjRuj48eP2G9UHDBigd999V8OGDVPfvn21YcMGffzxx/rii/9dk42OjlZUVJSaNWum5s2ba8qUKcrIyLB/+w4AAMAKp8LT6NGjtXLlSv34448KDw9X7dq1JUn79u3TV199pfr16ysyMrLQ/cXHx6tt27b2n3PuO4qKitK8efOUlJSkI0eO2OurVaumL774Qs8995ymTp2qO+64Q7NmzbI/pkCSunbtqlOnTmn06NFKTk5W48aNtXbt2lw3kQMAABSGU+EpKChIJ0+e1N69e+3BKcfPP/+s+++/X0FBQerfv3+h+rvvvvtU0J/ay+vp4ffdd592795dYL+DBw/W4MGDCzUGAACAgjh1z9O///1vDR48OFdwkv58YOXgwYM1adIkZzYBAADgUpwKT8eOHZOHh0e+9R4eHjp27JgzmwAAAHApToWn+vXr67333tPx48dz1R07dkzvvfeeGjRo4MwmAAAAXIpT9zzl/A25O++8U4888ohq1qwpSTpw4IBWrlwpY4wWLlxYJAMFAABwBU6Fp9atW2vbtm0aNWqUVqxYofPnz0uSfHx8FB4ernHjxnHmCQAA3FacCk/Sn5fuVqxYoezsbJ06dUqSVKFCBbm53dLP3wQAAMiT0+Eph5ubm7y9vVWyZEmCEwAAuG05nXLi4+PVvn17FS9eXOXLl9emTZskSadPn1anTp0UGxvr7CYAAABchlPhaevWrWrdurUOHDignj17Kjs7217n5+entLQ0vf/++04PEgAAwFU4FZ5Gjhypu+66Sz/99JPGjx+fq75t27batm2bM5sAAABwKU6Fpx07dqhPnz7y8vLK8w8EV6pUScnJyc5sAgAAwKU4FZ48PDwcLtVd7fjx4ypZsqQzmwAAAHApToWnFi1aaPny5XnWZWRkaO7cuWrTpo0zmwAAAHApToWncePGKT4+Xh06dNCXX34pSdqzZ49mzZqlpk2b6tSpUxo1alSRDBQAAMAVOPWcp5CQEK1Zs0YDBw5Ur169JEnPP/+8JKlGjRpas2aNGjZs6PwoAQAAXMR1hydjjM6ePauWLVtq//79SkhI0IEDB5Sdna0aNWqoadOmed5EDgAAcCu77vCUmZmpcuXKafz48Ro2bJgaN26sxo0bF+HQAAAAXM913/Pk5eWlgIAAeXl5FeV4AAAAXJpTN4z37t1bCxYsUGZmZlGNBwAAwKU5dcN4gwYNtHLlStWrV0+9e/dWcHCwfHx8crXr3LmzM5sBAABwGU6Fp+7du9v/P79HEthsNmVlZTmzGQAAAJdhOTyNHDlS3bp1U8OGDbVx48YbMSYAAACXZTk8TZw4UfXr11fDhg3Vpk0bnTlzRhUrVtT69et1//3334gxAgAAuAynbhjPYYwpim4AAABcXpGEJwAAgL8LwhMAAIAF1/Vtu8OHD2vXrl2SpLS0NEnSgQMHVKZMmTzb33333dc3OgAAABdzXeFp1KhRuR5N8M9//jNXO2MMjyoAAAC3Fcvhae7cuTdiHAAAALcEy+EpKirqRowDAADglsAN4wAAABYQngAAACwgPAEAAFjgkuFp2rRpCg4Olre3t0JCQrR9+/Z82953332y2Wy5lg4dOtjb9O7dO1d9+/bt/4pdAQAAt5nrelTBjbR06VJFR0drxowZCgkJ0ZQpUxQeHq79+/erYsWKudp/+umnyszMtP985swZNWrUSI899phDu/bt2zt8U9DLy+vG7QQAALhtudyZp8mTJ6t///7q06eP6tatqxkzZqh48eKaM2dOnu3LlSungIAA+7J+/XoVL148V3jy8vJyaFe2bNm/YncAAMBtxqXCU2Zmpnbu3KmwsDB7mZubm8LCwhQXF1eoPmbPnq1u3bqpRIkSDuWxsbGqWLGiateurYEDB+rMmTP59nHx4kWlp6c7LAAAAJKLhafTp08rKytL/v7+DuX+/v5KTk6+5vrbt2/X3r171a9fP4fy9u3ba8GCBYqJidEbb7yhTZs2KSIiIt8nn0+YMEG+vr72pXLlyte/UwAA4Lbicvc8OWP27Nlq0KCBmjdv7lDerVs3+/83aNBADRs2VI0aNRQbG6sHHnggVz8jRoxQdHS0/ef09HQCFAAAkORiZ578/Pzk7u6ulJQUh/KUlBQFBAQUuG5GRoaWLFmip5566prbqV69uvz8/HTw4ME86728vFS6dGmHBQAAQHKx8OTp6ammTZsqJibGXpadna2YmBiFhoYWuO6yZct08eJF9ezZ85rbOXbsmM6cOaPAwECnxwwAAP5eXCo8SVJ0dLQ++OADzZ8/Xz///LMGDhyojIwM9enTR5LUq1cvjRgxItd6s2fPVmRkpMqXL+9Qfu7cOb344ov67rvvdPjwYcXExKhTp06qWbOmwsPD/5J9AgAAtw+Xu+epa9euOnXqlEaPHq3k5GQ1btxYa9eutd9EfuTIEbm5OWa+/fv3a8uWLfrqq69y9efu7q7vv/9e8+fPV2pqqoKCgvTggw/q1Vdf5VlPAADAMpcLT5I0ePBgDR48OM+62NjYXGW1a9eWMSbP9j4+Plq3bl1RDg8AAPyNudxlOwAAAFdGeAIAALCA8AQAAGAB4QkAAMACwhMAAIAFhCcAAAALCE8AAAAWEJ4AAAAsIDwBAABYQHgCAACwgPAEAABgAeEJAADAAsITAACABYQnAAAACwhPAAAAFhCeAAAALCA8AQAAWEB4AgAAsIDwBAAAYAHhCQAAwALCEwAAgAWEJwAAAAsITwAAABYQngAAACwgPAEAAFhAeAIAALCA8AQAAGAB4QkAAMACwhMAAIAFhCcAAAALCE8AAAAWEJ4AAAAsIDwBAABY4JLhadq0aQoODpa3t7dCQkK0ffv2fNvOmzdPNpvNYfH29nZoY4zR6NGjFRgYKB8fH4WFhenAgQM3ejcAAMBtyOXC09KlSxUdHa0xY8Zo165datSokcLDw3Xy5Ml81yldurSSkpLsy6+//upQP2nSJL399tuaMWOGtm3bphIlSig8PFwXLly40bsDAABuMy4XniZPnqz+/furT58+qlu3rmbMmKHixYtrzpw5+a5js9kUEBBgX/z9/e11xhhNmTJFL7/8sjp16qSGDRtqwYIFOnHihFauXPkX7BEAALiduFR4yszM1M6dOxUWFmYvc3NzU1hYmOLi4vJd79y5c6pataoqV66sTp066ccff7TXJSYmKjk52aFPX19fhYSE5NvnxYsXlZ6e7rAAAABILhaeTp8+raysLIczR5Lk7++v5OTkPNepXbu25syZo1WrVmnhwoXKzs5Wy5YtdezYMUmyr2elzwkTJsjX19e+VK5c2dldAwAAtwmXCk/XIzQ0VL169VLjxo3Vpk0bffrpp6pQoYLef//96+5zxIgRSktLsy9Hjx4twhEDAIBbmUuFJz8/P7m7uyslJcWhPCUlRQEBAYXqw8PDQ02aNNHBgwclyb6elT69vLxUunRphwUAAEBysfDk6emppk2bKiYmxl6WnZ2tmJgYhYaGFqqPrKws/fDDDwoMDJQkVatWTQEBAQ59pqena9u2bYXuEwAAIEexmz2Aq0VHRysqKkrNmjVT8+bNNWXKFGVkZKhPnz6SpF69eqlSpUqaMGGCJOmVV15RixYtVLNmTaWmpurf//63fv31V/Xr10/Sn9/EGzp0qF577TXVqlVL1apV06hRoxQUFKTIyMibtZsAAOAW5XLhqWvXrjp16pRGjx6t5ORkNW7cWGvXrrXf8H3kyBG5uf3vhNnvv/+u/v37Kzk5WWXLllXTpk21detW1a1b195m2LBhysjI0NNPP63U1FS1bt1aa9euzfUwTQAAgGuxGWPMzR6Eq0tPT5evr6/S0tJuyP1PwcO/KPI+b7TDEzvc7CHARd2o+cyc++vwGiI/zI0/udQ9TwAAAK6O8AQAAGAB4QkAAMACwhMAAIAFhCcAAAALCE8AAAAWEJ4AAAAsIDwBAABYQHgCAACwgPAEAABgAeEJAADAAsITAACABYQnAAAACwhPAAAAFhCeAAAALCA8AQAAWEB4AgAAsIDwBAAAYAHhCQAAwALCEwAAgAWEJwAAAAsITwAAABYQngAAACwgPAEAAFhAeAIAALCA8AQAAGAB4QkAAMACwhMAAIAFhCcAAAALCE8AAAAWEJ4AAAAsIDwBAABYQHgCAACwwCXD07Rp0xQcHCxvb2+FhIRo+/bt+bb94IMPdM8996hs2bIqW7aswsLCcrXv3bu3bDabw9K+ffsbvRsAAOA25HLhaenSpYqOjtaYMWO0a9cuNWrUSOHh4Tp58mSe7WNjY9W9e3dt3LhRcXFxqly5sh588EEdP37coV379u2VlJRkXxYvXvxX7A4AALjNuFx4mjx5svr3768+ffqobt26mjFjhooXL645c+bk2f6jjz7SP//5TzVu3Fh16tTRrFmzlJ2drZiYGId2Xl5eCggIsC9ly5b9K3YHAADcZlwqPGVmZmrnzp0KCwuzl7m5uSksLExxcXGF6uOPP/7QpUuXVK5cOYfy2NhYVaxYUbVr19bAgQN15syZfPu4ePGi0tPTHRYAAADJxcLT6dOnlZWVJX9/f4dyf39/JScnF6qPl156SUFBQQ4BrH379lqwYIFiYmL0xhtvaNOmTYqIiFBWVlaefUyYMEG+vr72pXLlyte/UwAA4LZS7GYPoChNnDhRS5YsUWxsrLy9ve3l3bp1s/9/gwYN1LBhQ9WoUUOxsbF64IEHcvUzYsQIRUdH239OT08nQAEAAEkudubJz89P7u7uSklJcShPSUlRQEBAgeu++eabmjhxor766is1bNiwwLbVq1eXn5+fDh48mGe9l5eXSpcu7bAAAABILhaePD091bRpU4ebvXNu/g4NDc13vUmTJunVV1/V2rVr1axZs2tu59ixYzpz5owCAwOLZNwAAODvw6XCkyRFR0frgw8+0Pz58/Xzzz9r4MCBysjIUJ8+fSRJvXr10ogRI+zt33jjDY0aNUpz5sxRcHCwkpOTlZycrHPnzkmSzp07pxdffFHfffedDh8+rJiYGHXq1Ek1a9ZUeHj4TdlHAABw63K5e566du2qU6dOafTo0UpOTlbjxo21du1a+03kR44ckZvb/zLf9OnTlZmZqS5dujj0M2bMGI0dO1bu7u76/vvvNX/+fKWmpiooKEgPPvigXn31VXl5ef2l+wYAAG59LheeJGnw4MEaPHhwnnWxsbEOPx8+fLjAvnx8fLRu3boiGhkAAPi7c7nLdgAAAK6M8AQAAGAB4QkAAMACwhMAAIAFhCcAAAALCE8AAAAWEJ4AAAAsIDwBAABYQHgCAACwgPAEAABgAeEJAADAAsITAACABYQnAAAACwhPAAAAFhCeAAAALCA8AQAAWEB4AgAAsIDwBAAAYAHhCQAAwALCEwAAgAWEJwAAAAsITwAAABYQngAAACwgPAEAAFhAeAIAALCA8AQAAGAB4QkAAMACwhMAAIAFhCcAAAALCE8AAAAWEJ4AAAAsIDwBAABYQHgCAACwwCXD07Rp0xQcHCxvb2+FhIRo+/btBbZftmyZ6tSpI29vbzVo0EBr1qxxqDfGaPTo0QoMDJSPj4/CwsJ04MCBG7kLAADgNuVy4Wnp0qWKjo7WmDFjtGvXLjVq1Ejh4eE6efJknu23bt2q7t2766mnntLu3bsVGRmpyMhI7d27195m0qRJevvttzVjxgxt27ZNJUqUUHh4uC5cuPBX7RYAALhNuFx4mjx5svr3768+ffqobt26mjFjhooXL645c+bk2X7q1Klq3769XnzxRd1111169dVXdffdd+vdd9+V9OdZpylTpujll19Wp06d1LBhQy1YsEAnTpzQypUr/8I9AwAAt4NiN3sAV8rMzNTOnTs1YsQIe5mbm5vCwsIUFxeX5zpxcXGKjo52KAsPD7cHo8TERCUnJyssLMxe7+vrq5CQEMXFxalbt265+rx48aIuXrxo/zktLU2SlJ6eft37VpDsi3/ckH5vpBt1LHDru1HzmTn31+E1RH5u1blRqlQp2Wy2IuvPpcLT6dOnlZWVJX9/f4dyf39/7du3L891kpOT82yfnJxsr88py6/N1SZMmKBx48blKq9cuXLhduRvwHfKzR4B/m6Yc7c+XkPk50bPjbS0NJUuXbrI+nOp8OQqRowY4XA2Kzs7W7/99pvKly9fpMlV+jNtV65cWUePHi3SF/bvhuNYNDiORYPjWDQ4js7jGP6pVKlSRdqfS4UnPz8/ubu7KyUlxaE8JSVFAQEBea4TEBBQYPuc/6akpCgwMNChTePGjfPs08vLS15eXg5lZcqUsbIrlpUuXfpvPbGLCsexaHAciwbHsWhwHJ3HMSxaLnXDuKenp5o2baqYmBh7WXZ2tmJiYhQaGprnOqGhoQ7tJWn9+vX29tWqVVNAQIBDm/T0dG3bti3fPgEAAPLjUmeeJCk6OlpRUVFq1qyZmjdvrilTpigjI0N9+vSRJPXq1UuVKlXShAkTJElDhgxRmzZt9NZbb6lDhw5asmSJ4uPjNXPmTEmSzWbT0KFD9dprr6lWrVqqVq2aRo0apaCgIEVGRt6s3QQAALcolwtPXbt21alTpzR69GglJyercePGWrt2rf2G7yNHjsjN7X8nzFq2bKlFixbp5Zdf1siRI1WrVi2tXLlS9evXt7cZNmyYMjIy9PTTTys1NVWtW7fW2rVr5e3t/Zfv39W8vLw0ZsyYXJcJYQ3HsWhwHIsGx7FocBydxzG8MWzGGHOzBwEAAHCrcKl7ngAAAFwd4QkAAMACwhMAAIAFhCcAAAALCE8AAAAWEJ7+AtOnT1fDhg3tT3gNDQ3Vl19+aa+/cOGCBg0apPLly6tkyZJ69NFHcz01HY4mTpxof4ZXDo5j4YwdO1Y2m81hqVOnjr2e41h4x48fV8+ePVW+fHn5+PioQYMGio+Pt9cbYzR69GgFBgbKx8dHYWFhOnDgwE0csesJDg7ONR9tNpsGDRokiflYWFlZWRo1apSqVasmHx8f1ahRQ6+++qqu/EI987EIGdxwn332mfniiy/ML7/8Yvbv329GjhxpPDw8zN69e40xxgwYMMBUrlzZxMTEmPj4eNOiRQvTsmXLmzxq17V9+3YTHBxsGjZsaIYMGWIv5zgWzpgxY0y9evVMUlKSfTl16pS9nuNYOL/99pupWrWq6d27t9m2bZv573//a9atW2cOHjxobzNx4kTj6+trVq5cafbs2WMefvhhU61aNXP+/PmbOHLXcvLkSYe5uH79eiPJbNy40RjDfCys119/3ZQvX958/vnnJjEx0SxbtsyULFnSTJ061d6G+Vh0CE83SdmyZc2sWbNMamqq8fDwMMuWLbPX/fzzz0aSiYuLu4kjdE1nz541tWrVMuvXrzdt2rSxhyeOY+GNGTPGNGrUKM86jmPhvfTSS6Z169b51mdnZ5uAgADz73//216WmppqvLy8zOLFi/+KId6ShgwZYmrUqGGys7OZjxZ06NDB9O3b16Gsc+fOpkePHsYY5mNR47LdXywrK0tLlixRRkaGQkNDtXPnTl26dElhYWH2NnXq1FGVKlUUFxd3E0fqmgYNGqQOHTo4HC9JHEeLDhw4oKCgIFWvXl09evTQkSNHJHEcrfjss8/UrFkzPfbYY6pYsaKaNGmiDz74wF6fmJio5ORkh2Pp6+urkJAQjmU+MjMztXDhQvXt21c2m435aEHLli0VExOjX375RZK0Z88ebdmyRREREZKYj0XN5f48y+3qhx9+UGhoqC5cuKCSJUtqxYoVqlu3rhISEuTp6akyZco4tPf391dycvLNGayLWrJkiXbt2qUdO3bkqktOTuY4FlJISIjmzZun2rVrKykpSePGjdM999yjvXv3chwt+O9//6vp06crOjpaI0eO1I4dO/Svf/1Lnp6eioqKsh+vnD8tlYNjmb+VK1cqNTVVvXv3lsTvtRXDhw9Xenq66tSpI3d3d2VlZen1119Xjx49JIn5WMQIT3+R2rVrKyEhQWlpaVq+fLmioqK0adOmmz2sW8bRo0c1ZMgQrV+/3iX+JuGtLOeTqCQ1bNhQISEhqlq1qj7++GP5+PjcxJHdWrKzs9WsWTONHz9ektSkSRPt3btXM2bMUFRU1E0e3a1p9uzZioiIUFBQ0M0eyi3n448/1kcffaRFixapXr16SkhI0NChQxUUFMR8vAG4bPcX8fT0VM2aNdW0aVNNmDBBjRo10tSpUxUQEKDMzEylpqY6tE9JSVFAQMDNGawL2rlzp06ePKm7775bxYoVU7FixbRp0ya9/fbbKlasmPz9/TmO16lMmTK68847dfDgQeajBYGBgapbt65D2V133WW/BJpzvK7+ZhjHMm+//vqrvv76a/Xr189exnwsvBdffFHDhw9Xt27d1KBBAz355JN67rnnNGHCBEnMx6JGeLpJsrOzdfHiRTVt2lQeHh6KiYmx1+3fv19HjhxRaGjoTRyha3nggQf0ww8/KCEhwb40a9ZMPXr0sP8/x/H6nDt3TocOHVJgYCDz0YJWrVpp//79DmW//PKLqlatKkmqVq2aAgICHI5lenq6tm3bxrHMw9y5c1WxYkV16NDBXsZ8LLw//vhDbm6O/6S7u7srOztbEvOxyN3sO9b/DoYPH242bdpkEhMTzffff2+GDx9ubDab+eqrr4wxf34Vt0qVKmbDhg0mPj7ehIaGmtDQ0Js8atd35bftjOE4Ftbzzz9vYmNjTWJiovn2229NWFiY8fPzMydPnjTGcBwLa/v27aZYsWLm9ddfNwcOHDAfffSRKV68uFm4cKG9zcSJE02ZMmXMqlWrzPfff286derEV8PzkJWVZapUqWJeeumlXHXMx8KJiooylSpVsj+q4NNPPzV+fn5m2LBh9jbMx6JDePoL9O3b11StWtV4enqaChUqmAceeMAenIwx5vz58+af//ynKVu2rClevLh55JFHTFJS0k0c8a3h6vDEcSycrl27msDAQOPp6WkqVapkunbt6vBsIo5j4a1evdrUr1/feHl5mTp16piZM2c61GdnZ5tRo0YZf39/4+XlZR544AGzf//+mzRa17Vu3TojKc9jw3wsnPT0dDNkyBBTpUoV4+3tbapXr27+7//+z1y8eNHehvlYdGzGXPH4UQAAABSIe54AAAAsIDwBAABYQHgCAACwgPAEAABgAeEJAADAAsITAACABYQnAAAACwhPAAAAFhCeAAAALCA8AQAAWEB4AgAAsOD/A3g/oFFDPkZuAAAAAElFTkSuQmCC"/>
          <p:cNvSpPr>
            <a:spLocks noChangeAspect="1" noChangeArrowheads="1"/>
          </p:cNvSpPr>
          <p:nvPr/>
        </p:nvSpPr>
        <p:spPr bwMode="auto">
          <a:xfrm>
            <a:off x="307975" y="7937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7189" y="3223491"/>
            <a:ext cx="5463183" cy="3242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95297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Анализ трафика</a:t>
            </a:r>
            <a:endParaRPr lang="ru-RU" dirty="0"/>
          </a:p>
        </p:txBody>
      </p:sp>
      <p:pic>
        <p:nvPicPr>
          <p:cNvPr id="8" name="Рисунок 7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8045" r="8045"/>
          <a:stretch>
            <a:fillRect/>
          </a:stretch>
        </p:blipFill>
        <p:spPr>
          <a:xfrm>
            <a:off x="6548438" y="1143000"/>
            <a:ext cx="5467350" cy="3886200"/>
          </a:xfrm>
          <a:prstGeom prst="rect">
            <a:avLst/>
          </a:prstGeom>
        </p:spPr>
      </p:pic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701965" y="3429000"/>
            <a:ext cx="4895272" cy="2759364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Перераспределение самокатов необходимо для </a:t>
            </a:r>
            <a:r>
              <a:rPr lang="ru-RU" sz="1600" dirty="0" smtClean="0"/>
              <a:t>избежание </a:t>
            </a:r>
            <a:r>
              <a:rPr lang="ru-RU" sz="1600" dirty="0"/>
              <a:t>их нехватки в каких то районах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/>
              <a:t>Для повышения прибыльности и регуляции маршрута </a:t>
            </a:r>
            <a:r>
              <a:rPr lang="ru-RU" sz="1600" dirty="0" smtClean="0"/>
              <a:t>нам </a:t>
            </a:r>
            <a:r>
              <a:rPr lang="ru-RU" sz="1600" dirty="0"/>
              <a:t>так же стоит поднять цену на поездки "внутри" района "Заречный" и "Октябрьский</a:t>
            </a:r>
            <a:r>
              <a:rPr lang="ru-RU" sz="1600" dirty="0" smtClean="0"/>
              <a:t>"</a:t>
            </a:r>
            <a:endParaRPr lang="ru-RU" sz="1600" dirty="0"/>
          </a:p>
        </p:txBody>
      </p:sp>
    </p:spTree>
    <p:extLst>
      <p:ext uri="{BB962C8B-B14F-4D97-AF65-F5344CB8AC3E}">
        <p14:creationId xmlns:p14="http://schemas.microsoft.com/office/powerpoint/2010/main" val="16002652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Корреляции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33379" y="2603499"/>
            <a:ext cx="4873529" cy="3987815"/>
          </a:xfrm>
          <a:prstGeom prst="rect">
            <a:avLst/>
          </a:prstGeom>
        </p:spPr>
      </p:pic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/>
              <a:t>На этапе исследования были выявлены сильные зависимости от временных и погодных </a:t>
            </a:r>
            <a:r>
              <a:rPr lang="ru-RU" dirty="0" smtClean="0"/>
              <a:t>факторов.</a:t>
            </a:r>
            <a:r>
              <a:rPr lang="ru-RU" dirty="0"/>
              <a:t/>
            </a:r>
            <a:br>
              <a:rPr lang="ru-RU" dirty="0"/>
            </a:br>
            <a:r>
              <a:rPr lang="ru-RU" dirty="0" smtClean="0"/>
              <a:t>В первой строчки </a:t>
            </a:r>
            <a:r>
              <a:rPr lang="ru-RU" dirty="0" err="1" smtClean="0"/>
              <a:t>матирицы</a:t>
            </a:r>
            <a:r>
              <a:rPr lang="ru-RU" dirty="0" smtClean="0"/>
              <a:t> не нулевые ячейки показывают наличие зависимости спроса от них</a:t>
            </a:r>
          </a:p>
        </p:txBody>
      </p:sp>
    </p:spTree>
    <p:extLst>
      <p:ext uri="{BB962C8B-B14F-4D97-AF65-F5344CB8AC3E}">
        <p14:creationId xmlns:p14="http://schemas.microsoft.com/office/powerpoint/2010/main" val="656387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Корреляции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ru-RU" dirty="0" smtClean="0"/>
              <a:t>Интересно подметить, что температура косвенно зависит от времени суток и имеет большую связь с ней, поэтому надо быть осторожным при </a:t>
            </a:r>
            <a:r>
              <a:rPr lang="ru-RU" dirty="0" err="1" smtClean="0"/>
              <a:t>учитывании</a:t>
            </a:r>
            <a:r>
              <a:rPr lang="ru-RU" dirty="0" smtClean="0"/>
              <a:t> двух этих факторов вместе</a:t>
            </a:r>
          </a:p>
        </p:txBody>
      </p:sp>
      <p:pic>
        <p:nvPicPr>
          <p:cNvPr id="7" name="Объект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208713" y="2807906"/>
            <a:ext cx="4824412" cy="3007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098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Гипотезы и полезные замечания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sz="half" idx="2"/>
          </p:nvPr>
        </p:nvSpPr>
        <p:spPr>
          <a:xfrm>
            <a:off x="822036" y="2881745"/>
            <a:ext cx="10206182" cy="4267199"/>
          </a:xfrm>
        </p:spPr>
        <p:txBody>
          <a:bodyPr>
            <a:normAutofit/>
          </a:bodyPr>
          <a:lstStyle/>
          <a:p>
            <a:r>
              <a:rPr lang="ru-RU" dirty="0"/>
              <a:t>Верно ли, что спрос на самокаты меняется в зависимости от дня недели?</a:t>
            </a:r>
          </a:p>
          <a:p>
            <a:pPr lvl="1"/>
            <a:r>
              <a:rPr lang="ru-RU" dirty="0"/>
              <a:t>Спрос меняется от дня недели. В какой то день нужно выставлять больше самокатов, чтобы покрыть спрос. В другие дни можно наоборот сэкономить и </a:t>
            </a:r>
            <a:r>
              <a:rPr lang="ru-RU" dirty="0" err="1"/>
              <a:t>выстовить</a:t>
            </a:r>
            <a:r>
              <a:rPr lang="ru-RU" dirty="0"/>
              <a:t> поменьше </a:t>
            </a:r>
            <a:r>
              <a:rPr lang="ru-RU" dirty="0" err="1"/>
              <a:t>самакатов</a:t>
            </a:r>
            <a:r>
              <a:rPr lang="ru-RU" dirty="0"/>
              <a:t>, если не ожидается большого ажиотажа на них, тем самым сократив издержки</a:t>
            </a:r>
            <a:r>
              <a:rPr lang="ru-RU" dirty="0" smtClean="0"/>
              <a:t>.</a:t>
            </a:r>
          </a:p>
          <a:p>
            <a:r>
              <a:rPr lang="ru-RU" dirty="0"/>
              <a:t>Верно ли, что в выходные дни поездки более длительные?</a:t>
            </a:r>
          </a:p>
          <a:p>
            <a:pPr lvl="1"/>
            <a:r>
              <a:rPr lang="ru-RU" dirty="0"/>
              <a:t>Поездки в выходные занимают больше </a:t>
            </a:r>
            <a:r>
              <a:rPr lang="ru-RU" dirty="0" smtClean="0"/>
              <a:t>времени. </a:t>
            </a:r>
            <a:r>
              <a:rPr lang="ru-RU" dirty="0"/>
              <a:t>В</a:t>
            </a:r>
            <a:r>
              <a:rPr lang="ru-RU" dirty="0" smtClean="0"/>
              <a:t>ыходные </a:t>
            </a:r>
            <a:r>
              <a:rPr lang="ru-RU" dirty="0"/>
              <a:t>дни важный промежуток времени, в котором спрос на самокаты должен быть удовлетворён полностью, иначе возможны </a:t>
            </a:r>
            <a:r>
              <a:rPr lang="ru-RU" dirty="0" err="1"/>
              <a:t>недополучения</a:t>
            </a:r>
            <a:r>
              <a:rPr lang="ru-RU" dirty="0"/>
              <a:t> прибыль</a:t>
            </a:r>
          </a:p>
          <a:p>
            <a:r>
              <a:rPr lang="ru-RU" dirty="0"/>
              <a:t>Верно ли, что в будние дни поездки более скоростные?</a:t>
            </a:r>
          </a:p>
          <a:p>
            <a:pPr lvl="1"/>
            <a:r>
              <a:rPr lang="ru-RU" dirty="0" smtClean="0"/>
              <a:t>В будние </a:t>
            </a:r>
            <a:r>
              <a:rPr lang="ru-RU" dirty="0"/>
              <a:t>дни </a:t>
            </a:r>
            <a:r>
              <a:rPr lang="ru-RU" dirty="0" smtClean="0"/>
              <a:t>поездки быстрее. </a:t>
            </a:r>
            <a:r>
              <a:rPr lang="ru-RU" dirty="0"/>
              <a:t>Факт, что поездки более скоростные по будням важно учесть при оценки состояния самокатов и их ремонте, ведь на высоких оборотах детали быстрее изнашиваются, а значит этот процесс надо контролировать.</a:t>
            </a:r>
          </a:p>
          <a:p>
            <a:pPr lvl="1"/>
            <a:endParaRPr lang="ru-RU" dirty="0" smtClean="0"/>
          </a:p>
        </p:txBody>
      </p:sp>
    </p:spTree>
    <p:extLst>
      <p:ext uri="{BB962C8B-B14F-4D97-AF65-F5344CB8AC3E}">
        <p14:creationId xmlns:p14="http://schemas.microsoft.com/office/powerpoint/2010/main" val="37325008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54954" y="1597891"/>
            <a:ext cx="3865134" cy="759691"/>
          </a:xfrm>
        </p:spPr>
        <p:txBody>
          <a:bodyPr/>
          <a:lstStyle/>
          <a:p>
            <a:r>
              <a:rPr lang="ru-RU" dirty="0" smtClean="0"/>
              <a:t>Регрессия</a:t>
            </a:r>
            <a:endParaRPr lang="ru-RU" dirty="0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154954" y="2660073"/>
            <a:ext cx="3859212" cy="2369127"/>
          </a:xfrm>
        </p:spPr>
        <p:txBody>
          <a:bodyPr/>
          <a:lstStyle/>
          <a:p>
            <a:r>
              <a:rPr lang="ru-RU" dirty="0" smtClean="0"/>
              <a:t>При обучении линейной </a:t>
            </a:r>
            <a:r>
              <a:rPr lang="ru-RU" dirty="0" smtClean="0"/>
              <a:t>регресси</a:t>
            </a:r>
            <a:r>
              <a:rPr lang="ru-RU" dirty="0" smtClean="0"/>
              <a:t>и только на погодных и временных данных мы достигли метрики </a:t>
            </a:r>
            <a:r>
              <a:rPr lang="en-US" dirty="0" smtClean="0"/>
              <a:t>R</a:t>
            </a:r>
            <a:r>
              <a:rPr lang="ru-RU" dirty="0" smtClean="0"/>
              <a:t>²</a:t>
            </a:r>
            <a:r>
              <a:rPr lang="en-US" dirty="0" smtClean="0"/>
              <a:t> 0.83</a:t>
            </a:r>
            <a:br>
              <a:rPr lang="en-US" dirty="0" smtClean="0"/>
            </a:br>
            <a:r>
              <a:rPr lang="en-US" dirty="0" smtClean="0"/>
              <a:t/>
            </a:r>
            <a:br>
              <a:rPr lang="en-US" dirty="0" smtClean="0"/>
            </a:br>
            <a:r>
              <a:rPr lang="ru-RU" dirty="0" smtClean="0"/>
              <a:t>Это можно интерпретировать как то, что 83 процента зависимости целевой переменной объясняется этими двумя категориями</a:t>
            </a:r>
            <a:endParaRPr lang="ru-RU" dirty="0"/>
          </a:p>
        </p:txBody>
      </p:sp>
      <p:pic>
        <p:nvPicPr>
          <p:cNvPr id="16" name="Рисунок 15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l="1210" r="1210"/>
          <a:stretch>
            <a:fillRect/>
          </a:stretch>
        </p:blipFill>
        <p:spPr>
          <a:xfrm>
            <a:off x="6131768" y="1272309"/>
            <a:ext cx="5958634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97314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154954" y="785091"/>
            <a:ext cx="8825660" cy="720308"/>
          </a:xfrm>
        </p:spPr>
        <p:txBody>
          <a:bodyPr/>
          <a:lstStyle/>
          <a:p>
            <a:r>
              <a:rPr lang="ru-RU" dirty="0" smtClean="0"/>
              <a:t>Выводы для бизнеса</a:t>
            </a:r>
            <a:endParaRPr lang="ru-RU" dirty="0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1154955" y="1948874"/>
            <a:ext cx="8825659" cy="1597890"/>
          </a:xfrm>
        </p:spPr>
        <p:txBody>
          <a:bodyPr>
            <a:noAutofit/>
          </a:bodyPr>
          <a:lstStyle/>
          <a:p>
            <a:r>
              <a:rPr lang="ru-RU" sz="1800" dirty="0" smtClean="0"/>
              <a:t>Динамическое ценообразование явно принесёт бизнесу большую выручку.</a:t>
            </a:r>
            <a:r>
              <a:rPr lang="ru-RU" sz="1800" dirty="0"/>
              <a:t> </a:t>
            </a:r>
            <a:r>
              <a:rPr lang="ru-RU" sz="1800" dirty="0" smtClean="0"/>
              <a:t>При создании цены важно опираться в первую очередь на время и погоду в текущий момент.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1154954" y="4793174"/>
            <a:ext cx="8825659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>
              <a:spcBef>
                <a:spcPts val="1000"/>
              </a:spcBef>
              <a:buClr>
                <a:srgbClr val="B31166"/>
              </a:buClr>
              <a:buSzPct val="80000"/>
            </a:pPr>
            <a:r>
              <a:rPr lang="ru-RU" sz="2000" dirty="0" smtClean="0">
                <a:solidFill>
                  <a:srgbClr val="B31166">
                    <a:lumMod val="60000"/>
                    <a:lumOff val="40000"/>
                  </a:srgbClr>
                </a:solidFill>
              </a:rPr>
              <a:t>Рекомендуем бизнесу запустить пилотную систему на небольшой группе (можно выбрать район). Собрать данные и вновь обратиться к аналитикам за дальнейшими рекомендациями.</a:t>
            </a:r>
            <a:endParaRPr lang="ru-RU" sz="2000" dirty="0">
              <a:solidFill>
                <a:srgbClr val="B31166">
                  <a:lumMod val="60000"/>
                  <a:lumOff val="40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717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Совет директоров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Ион (конференц-зал)</Template>
  <TotalTime>1539</TotalTime>
  <Words>414</Words>
  <Application>Microsoft Office PowerPoint</Application>
  <PresentationFormat>Широкоэкранный</PresentationFormat>
  <Paragraphs>39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4" baseType="lpstr">
      <vt:lpstr>Arial</vt:lpstr>
      <vt:lpstr>Century Gothic</vt:lpstr>
      <vt:lpstr>Wingdings 3</vt:lpstr>
      <vt:lpstr>Совет директоров</vt:lpstr>
      <vt:lpstr>Исследование спроса на самокаты</vt:lpstr>
      <vt:lpstr>Постановка задачи</vt:lpstr>
      <vt:lpstr>Анализ трафика</vt:lpstr>
      <vt:lpstr>Анализ трафика</vt:lpstr>
      <vt:lpstr>Анализ трафика</vt:lpstr>
      <vt:lpstr>Корреляции</vt:lpstr>
      <vt:lpstr>Корреляции</vt:lpstr>
      <vt:lpstr>Гипотезы и полезные замечания</vt:lpstr>
      <vt:lpstr>Регрессия</vt:lpstr>
      <vt:lpstr>Выводы для бизнеса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Исследование спроса на самокаты</dc:title>
  <dc:creator>User</dc:creator>
  <cp:lastModifiedBy>User</cp:lastModifiedBy>
  <cp:revision>17</cp:revision>
  <dcterms:created xsi:type="dcterms:W3CDTF">2025-12-14T20:21:29Z</dcterms:created>
  <dcterms:modified xsi:type="dcterms:W3CDTF">2025-12-16T22:17:35Z</dcterms:modified>
</cp:coreProperties>
</file>